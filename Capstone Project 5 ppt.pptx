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834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70" r:id="rId15"/>
  </p:sldIdLst>
  <p:sldSz cx="9144000" cy="6858000" type="screen4x3"/>
  <p:notesSz cx="9144000" cy="6858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1594" y="6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66442" y="1447801"/>
            <a:ext cx="662096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66442" y="4777380"/>
            <a:ext cx="662096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1081983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571348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2861734"/>
            <a:ext cx="662096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5695988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27700" y="2060576"/>
            <a:ext cx="3298113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241975" y="2056093"/>
            <a:ext cx="3298115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0725538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1905000"/>
            <a:ext cx="32981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7700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241976" y="1905000"/>
            <a:ext cx="3298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241976" y="2514600"/>
            <a:ext cx="3298113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6738517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980603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183089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1447800"/>
            <a:ext cx="2551462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89397" y="1447800"/>
            <a:ext cx="3898013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129281"/>
            <a:ext cx="2551462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64961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5656" y="1854192"/>
            <a:ext cx="3820674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213517" y="1143000"/>
            <a:ext cx="2400925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1" y="3657600"/>
            <a:ext cx="3814728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714603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3" y="4800587"/>
            <a:ext cx="66209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66442" y="685800"/>
            <a:ext cx="662096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3" y="5367325"/>
            <a:ext cx="662096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2781266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2" y="1447800"/>
            <a:ext cx="6620968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3657600"/>
            <a:ext cx="6620968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17123071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81409" y="1447800"/>
            <a:ext cx="6001049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448177" y="3771174"/>
            <a:ext cx="546115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866442" y="4350657"/>
            <a:ext cx="6620968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  <p:sp>
        <p:nvSpPr>
          <p:cNvPr id="12" name="TextBox 11"/>
          <p:cNvSpPr txBox="1"/>
          <p:nvPr/>
        </p:nvSpPr>
        <p:spPr>
          <a:xfrm>
            <a:off x="673897" y="971253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999690" y="2613787"/>
            <a:ext cx="601591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sz="12200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94927755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66441" y="3124201"/>
            <a:ext cx="6620969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66442" y="4777381"/>
            <a:ext cx="6620968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7946552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74834" y="1981200"/>
            <a:ext cx="22107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489475" y="2667000"/>
            <a:ext cx="219608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3504" y="1981200"/>
            <a:ext cx="2202754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2905586" y="2667000"/>
            <a:ext cx="2210671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1981200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5344917" y="2667000"/>
            <a:ext cx="2199658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42957788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89475" y="4250949"/>
            <a:ext cx="220561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489475" y="2209800"/>
            <a:ext cx="2205612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489475" y="4827212"/>
            <a:ext cx="2205612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2917792" y="4250949"/>
            <a:ext cx="21984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2917791" y="2209800"/>
            <a:ext cx="2198466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2916776" y="4827211"/>
            <a:ext cx="2201378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344917" y="4250949"/>
            <a:ext cx="219965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344916" y="2209800"/>
            <a:ext cx="2199658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dirty="0"/>
              <a:t>Click icon to add picture</a:t>
            </a:r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5344824" y="4827209"/>
            <a:ext cx="2202571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2795334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5223030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2250011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31714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229782" y="430214"/>
            <a:ext cx="1314793" cy="58261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89475" y="773205"/>
            <a:ext cx="5568812" cy="548313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1660100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Oval 21"/>
          <p:cNvSpPr/>
          <p:nvPr/>
        </p:nvSpPr>
        <p:spPr>
          <a:xfrm>
            <a:off x="629943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3" name="Oval 22"/>
          <p:cNvSpPr/>
          <p:nvPr/>
        </p:nvSpPr>
        <p:spPr>
          <a:xfrm>
            <a:off x="5689832" y="-457200"/>
            <a:ext cx="1600200" cy="1600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4000"/>
                </a:schemeClr>
              </a:gs>
              <a:gs pos="73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7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4" name="Oval 23"/>
          <p:cNvSpPr/>
          <p:nvPr/>
        </p:nvSpPr>
        <p:spPr>
          <a:xfrm>
            <a:off x="6299432" y="6096000"/>
            <a:ext cx="990600" cy="9906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9000"/>
                </a:schemeClr>
              </a:gs>
              <a:gs pos="66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5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0" name="Oval 19"/>
          <p:cNvSpPr/>
          <p:nvPr/>
        </p:nvSpPr>
        <p:spPr>
          <a:xfrm>
            <a:off x="-153988" y="2667000"/>
            <a:ext cx="4191000" cy="41910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11000"/>
                </a:schemeClr>
              </a:gs>
              <a:gs pos="75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10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1" name="Oval 20"/>
          <p:cNvSpPr/>
          <p:nvPr/>
        </p:nvSpPr>
        <p:spPr>
          <a:xfrm>
            <a:off x="-839788" y="2895600"/>
            <a:ext cx="2362200" cy="23622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8000"/>
                </a:schemeClr>
              </a:gs>
              <a:gs pos="72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8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9" name="Rectangle 18"/>
          <p:cNvSpPr/>
          <p:nvPr/>
        </p:nvSpPr>
        <p:spPr>
          <a:xfrm>
            <a:off x="7745644" y="0"/>
            <a:ext cx="685800" cy="109945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84710" y="452718"/>
            <a:ext cx="7055380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27700" y="2052925"/>
            <a:ext cx="6711654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7494989" y="1828771"/>
            <a:ext cx="990599" cy="22865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4/18/2026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6233335" y="3263371"/>
            <a:ext cx="3859795" cy="22866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7766431" y="295736"/>
            <a:ext cx="628813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1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IN" smtClean="0"/>
              <a:pPr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0959871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835" r:id="rId1"/>
    <p:sldLayoutId id="2147483836" r:id="rId2"/>
    <p:sldLayoutId id="2147483837" r:id="rId3"/>
    <p:sldLayoutId id="2147483838" r:id="rId4"/>
    <p:sldLayoutId id="2147483839" r:id="rId5"/>
    <p:sldLayoutId id="2147483840" r:id="rId6"/>
    <p:sldLayoutId id="2147483841" r:id="rId7"/>
    <p:sldLayoutId id="2147483842" r:id="rId8"/>
    <p:sldLayoutId id="2147483843" r:id="rId9"/>
    <p:sldLayoutId id="2147483844" r:id="rId10"/>
    <p:sldLayoutId id="2147483845" r:id="rId11"/>
    <p:sldLayoutId id="2147483846" r:id="rId12"/>
    <p:sldLayoutId id="2147483847" r:id="rId13"/>
    <p:sldLayoutId id="2147483848" r:id="rId14"/>
    <p:sldLayoutId id="2147483849" r:id="rId15"/>
    <p:sldLayoutId id="2147483850" r:id="rId16"/>
    <p:sldLayoutId id="2147483851" r:id="rId17"/>
  </p:sldLayoutIdLst>
  <p:txStyles>
    <p:titleStyle>
      <a:lvl1pPr algn="l" defTabSz="457207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6" indent="-342906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62" indent="-285755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20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2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3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14642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49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57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64" indent="-228604" algn="l" defTabSz="457207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7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15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22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3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38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46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53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61" algn="l" defTabSz="45720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jpeg"/><Relationship Id="rId4" Type="http://schemas.openxmlformats.org/officeDocument/2006/relationships/image" Target="../media/image10.jpe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13" Type="http://schemas.openxmlformats.org/officeDocument/2006/relationships/image" Target="../media/image23.png"/><Relationship Id="rId18" Type="http://schemas.openxmlformats.org/officeDocument/2006/relationships/image" Target="../media/image28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png"/><Relationship Id="rId17" Type="http://schemas.openxmlformats.org/officeDocument/2006/relationships/image" Target="../media/image27.png"/><Relationship Id="rId2" Type="http://schemas.openxmlformats.org/officeDocument/2006/relationships/image" Target="../media/image12.png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pn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Relationship Id="rId14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81000" y="1915794"/>
            <a:ext cx="8534400" cy="1802287"/>
          </a:xfrm>
          <a:prstGeom prst="rect">
            <a:avLst/>
          </a:prstGeom>
        </p:spPr>
        <p:txBody>
          <a:bodyPr vert="horz" wrap="square" lIns="0" tIns="33019" rIns="0" bIns="0" rtlCol="0">
            <a:spAutoFit/>
          </a:bodyPr>
          <a:lstStyle/>
          <a:p>
            <a:pPr marL="12700" marR="5080" indent="913765" algn="ctr">
              <a:lnSpc>
                <a:spcPct val="96600"/>
              </a:lnSpc>
              <a:spcBef>
                <a:spcPts val="259"/>
              </a:spcBef>
            </a:pPr>
            <a:r>
              <a:rPr sz="3950" spc="-20" dirty="0">
                <a:solidFill>
                  <a:schemeClr val="tx1"/>
                </a:solidFill>
                <a:latin typeface="Arial"/>
                <a:cs typeface="Arial"/>
              </a:rPr>
              <a:t>LIVE</a:t>
            </a:r>
            <a:r>
              <a:rPr sz="3950" spc="-7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950" spc="-15" dirty="0">
                <a:solidFill>
                  <a:schemeClr val="tx1"/>
                </a:solidFill>
                <a:latin typeface="Arial"/>
                <a:cs typeface="Arial"/>
              </a:rPr>
              <a:t>CLASS</a:t>
            </a:r>
            <a:r>
              <a:rPr sz="3950" spc="-6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950" spc="-15" dirty="0">
                <a:solidFill>
                  <a:schemeClr val="tx1"/>
                </a:solidFill>
                <a:latin typeface="Arial"/>
                <a:cs typeface="Arial"/>
              </a:rPr>
              <a:t>MONITORING </a:t>
            </a:r>
            <a:r>
              <a:rPr sz="3950" spc="-1085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lang="en-US" sz="3950" spc="-1085" dirty="0">
                <a:solidFill>
                  <a:schemeClr val="tx1"/>
                </a:solidFill>
                <a:latin typeface="Arial"/>
                <a:cs typeface="Arial"/>
              </a:rPr>
              <a:t>    </a:t>
            </a:r>
            <a:r>
              <a:rPr sz="3950" spc="-35" dirty="0">
                <a:solidFill>
                  <a:schemeClr val="tx1"/>
                </a:solidFill>
                <a:latin typeface="Arial"/>
                <a:cs typeface="Arial"/>
              </a:rPr>
              <a:t>SYSTEM </a:t>
            </a:r>
            <a:r>
              <a:rPr sz="3950" spc="-55" dirty="0">
                <a:solidFill>
                  <a:schemeClr val="tx1"/>
                </a:solidFill>
                <a:latin typeface="Arial"/>
                <a:cs typeface="Arial"/>
              </a:rPr>
              <a:t>(FACE </a:t>
            </a:r>
            <a:r>
              <a:rPr sz="3950" spc="-15" dirty="0">
                <a:solidFill>
                  <a:schemeClr val="tx1"/>
                </a:solidFill>
                <a:latin typeface="Arial"/>
                <a:cs typeface="Arial"/>
              </a:rPr>
              <a:t>EMOTION </a:t>
            </a:r>
            <a:r>
              <a:rPr sz="3950" spc="-10" dirty="0">
                <a:solidFill>
                  <a:schemeClr val="tx1"/>
                </a:solidFill>
                <a:latin typeface="Arial"/>
                <a:cs typeface="Arial"/>
              </a:rPr>
              <a:t> </a:t>
            </a:r>
            <a:r>
              <a:rPr sz="3950" spc="-40" dirty="0">
                <a:solidFill>
                  <a:schemeClr val="tx1"/>
                </a:solidFill>
                <a:latin typeface="Arial"/>
                <a:cs typeface="Arial"/>
              </a:rPr>
              <a:t>RECOGNISATION)</a:t>
            </a:r>
            <a:endParaRPr sz="3950" dirty="0">
              <a:solidFill>
                <a:schemeClr val="tx1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211195" y="437133"/>
            <a:ext cx="272669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Arial"/>
                <a:cs typeface="Arial"/>
              </a:rPr>
              <a:t>CONTENT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535940" y="1479550"/>
            <a:ext cx="3731260" cy="418063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90195" indent="-278130">
              <a:lnSpc>
                <a:spcPct val="100000"/>
              </a:lnSpc>
              <a:spcBef>
                <a:spcPts val="100"/>
              </a:spcBef>
              <a:buChar char="•"/>
              <a:tabLst>
                <a:tab pos="290830" algn="l"/>
              </a:tabLst>
            </a:pPr>
            <a:r>
              <a:rPr sz="3000" spc="-20" dirty="0">
                <a:latin typeface="Arial MT"/>
                <a:cs typeface="Arial MT"/>
              </a:rPr>
              <a:t>Introduction</a:t>
            </a:r>
            <a:endParaRPr lang="en-US" sz="3000" dirty="0">
              <a:latin typeface="Arial MT"/>
              <a:cs typeface="Arial MT"/>
            </a:endParaRPr>
          </a:p>
          <a:p>
            <a:pPr marL="290195" indent="-278130">
              <a:lnSpc>
                <a:spcPct val="100000"/>
              </a:lnSpc>
              <a:spcBef>
                <a:spcPts val="100"/>
              </a:spcBef>
              <a:buChar char="•"/>
              <a:tabLst>
                <a:tab pos="290830" algn="l"/>
              </a:tabLst>
            </a:pPr>
            <a:r>
              <a:rPr sz="3000" spc="-15" dirty="0">
                <a:latin typeface="Arial MT"/>
                <a:cs typeface="Arial MT"/>
              </a:rPr>
              <a:t>Problem</a:t>
            </a:r>
            <a:r>
              <a:rPr sz="3000" spc="-6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Statemen</a:t>
            </a:r>
            <a:endParaRPr sz="3000" dirty="0">
              <a:latin typeface="Arial MT"/>
              <a:cs typeface="Arial MT"/>
            </a:endParaRPr>
          </a:p>
          <a:p>
            <a:pPr marL="290195" indent="-278130">
              <a:lnSpc>
                <a:spcPct val="100000"/>
              </a:lnSpc>
              <a:buChar char="•"/>
              <a:tabLst>
                <a:tab pos="290830" algn="l"/>
              </a:tabLst>
            </a:pPr>
            <a:r>
              <a:rPr sz="3000" spc="-5" dirty="0">
                <a:latin typeface="Arial MT"/>
                <a:cs typeface="Arial MT"/>
              </a:rPr>
              <a:t>Data</a:t>
            </a:r>
            <a:r>
              <a:rPr sz="3000" spc="-1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Summary</a:t>
            </a:r>
            <a:endParaRPr lang="en-US" sz="3000" dirty="0">
              <a:latin typeface="Arial MT"/>
              <a:cs typeface="Arial MT"/>
            </a:endParaRPr>
          </a:p>
          <a:p>
            <a:pPr marL="290195" indent="-278130">
              <a:lnSpc>
                <a:spcPct val="100000"/>
              </a:lnSpc>
              <a:buChar char="•"/>
              <a:tabLst>
                <a:tab pos="290830" algn="l"/>
              </a:tabLst>
            </a:pPr>
            <a:r>
              <a:rPr sz="3000" dirty="0">
                <a:latin typeface="Arial MT"/>
                <a:cs typeface="Arial MT"/>
              </a:rPr>
              <a:t>Dependencies</a:t>
            </a:r>
          </a:p>
          <a:p>
            <a:pPr marL="290195" indent="-278130">
              <a:lnSpc>
                <a:spcPct val="100000"/>
              </a:lnSpc>
              <a:buChar char="•"/>
              <a:tabLst>
                <a:tab pos="290830" algn="l"/>
              </a:tabLst>
            </a:pPr>
            <a:r>
              <a:rPr sz="3000" spc="-15" dirty="0">
                <a:latin typeface="Arial MT"/>
                <a:cs typeface="Arial MT"/>
              </a:rPr>
              <a:t>Modelling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Overvie</a:t>
            </a:r>
            <a:r>
              <a:rPr lang="en-US" sz="3000" spc="-5" dirty="0">
                <a:latin typeface="Arial MT"/>
                <a:cs typeface="Arial MT"/>
              </a:rPr>
              <a:t>w</a:t>
            </a:r>
            <a:endParaRPr sz="3000" dirty="0">
              <a:latin typeface="Arial MT"/>
              <a:cs typeface="Arial MT"/>
            </a:endParaRPr>
          </a:p>
          <a:p>
            <a:pPr marL="290195" indent="-278130">
              <a:lnSpc>
                <a:spcPct val="100000"/>
              </a:lnSpc>
              <a:spcBef>
                <a:spcPts val="15"/>
              </a:spcBef>
              <a:buChar char="•"/>
              <a:tabLst>
                <a:tab pos="290830" algn="l"/>
              </a:tabLst>
            </a:pPr>
            <a:r>
              <a:rPr sz="3000" dirty="0">
                <a:latin typeface="Arial MT"/>
                <a:cs typeface="Arial MT"/>
              </a:rPr>
              <a:t>Deployment</a:t>
            </a:r>
          </a:p>
          <a:p>
            <a:pPr marL="290195" indent="-278130">
              <a:lnSpc>
                <a:spcPct val="100000"/>
              </a:lnSpc>
              <a:buChar char="•"/>
              <a:tabLst>
                <a:tab pos="290830" algn="l"/>
              </a:tabLst>
            </a:pPr>
            <a:r>
              <a:rPr sz="3000" spc="-20" dirty="0">
                <a:latin typeface="Arial MT"/>
                <a:cs typeface="Arial MT"/>
              </a:rPr>
              <a:t>Prediction</a:t>
            </a:r>
            <a:endParaRPr sz="3000" dirty="0">
              <a:latin typeface="Arial MT"/>
              <a:cs typeface="Arial MT"/>
            </a:endParaRPr>
          </a:p>
          <a:p>
            <a:pPr marL="290195" indent="-278130">
              <a:lnSpc>
                <a:spcPct val="100000"/>
              </a:lnSpc>
              <a:buChar char="•"/>
              <a:tabLst>
                <a:tab pos="290830" algn="l"/>
              </a:tabLst>
            </a:pPr>
            <a:r>
              <a:rPr sz="3000" dirty="0">
                <a:latin typeface="Arial MT"/>
                <a:cs typeface="Arial MT"/>
              </a:rPr>
              <a:t>Challenges</a:t>
            </a:r>
          </a:p>
          <a:p>
            <a:pPr marL="290195" indent="-278130">
              <a:lnSpc>
                <a:spcPct val="100000"/>
              </a:lnSpc>
              <a:spcBef>
                <a:spcPts val="40"/>
              </a:spcBef>
              <a:buChar char="•"/>
              <a:tabLst>
                <a:tab pos="290830" algn="l"/>
              </a:tabLst>
            </a:pPr>
            <a:r>
              <a:rPr sz="3000" dirty="0">
                <a:latin typeface="Arial MT"/>
                <a:cs typeface="Arial MT"/>
              </a:rPr>
              <a:t>Conclusion</a:t>
            </a:r>
          </a:p>
        </p:txBody>
      </p: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4419600" y="1229334"/>
            <a:ext cx="4495800" cy="5400066"/>
          </a:xfrm>
          <a:prstGeom prst="rect">
            <a:avLst/>
          </a:prstGeom>
        </p:spPr>
      </p:pic>
      <p:pic>
        <p:nvPicPr>
          <p:cNvPr id="6" name="object 6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421382" y="437133"/>
            <a:ext cx="431101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INTRODUCTI</a:t>
            </a:r>
            <a:r>
              <a:rPr spc="-20" dirty="0">
                <a:latin typeface="Arial"/>
                <a:cs typeface="Arial"/>
              </a:rPr>
              <a:t>O</a:t>
            </a:r>
            <a:r>
              <a:rPr dirty="0">
                <a:latin typeface="Arial"/>
                <a:cs typeface="Arial"/>
              </a:rPr>
              <a:t>N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470405"/>
            <a:ext cx="7871459" cy="48869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3535">
              <a:lnSpc>
                <a:spcPts val="3145"/>
              </a:lnSpc>
              <a:spcBef>
                <a:spcPts val="100"/>
              </a:spcBef>
              <a:buChar char="•"/>
              <a:tabLst>
                <a:tab pos="355600" algn="l"/>
                <a:tab pos="356235" algn="l"/>
              </a:tabLst>
            </a:pPr>
            <a:r>
              <a:rPr sz="3000" spc="-30" dirty="0">
                <a:latin typeface="Arial MT"/>
                <a:cs typeface="Arial MT"/>
              </a:rPr>
              <a:t>Face</a:t>
            </a:r>
            <a:r>
              <a:rPr sz="3000" spc="-8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Emotion</a:t>
            </a:r>
            <a:r>
              <a:rPr sz="3000" spc="-5" dirty="0">
                <a:latin typeface="Arial MT"/>
                <a:cs typeface="Arial MT"/>
              </a:rPr>
              <a:t> Recognisation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is</a:t>
            </a:r>
            <a:endParaRPr sz="3000" dirty="0">
              <a:latin typeface="Arial MT"/>
              <a:cs typeface="Arial MT"/>
            </a:endParaRPr>
          </a:p>
          <a:p>
            <a:pPr marL="355600" marR="2549525">
              <a:lnSpc>
                <a:spcPct val="74800"/>
              </a:lnSpc>
              <a:spcBef>
                <a:spcPts val="450"/>
              </a:spcBef>
            </a:pPr>
            <a:r>
              <a:rPr sz="3000" spc="-5" dirty="0">
                <a:latin typeface="Arial MT"/>
                <a:cs typeface="Arial MT"/>
              </a:rPr>
              <a:t>Process</a:t>
            </a:r>
            <a:r>
              <a:rPr sz="3000" spc="-15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of</a:t>
            </a:r>
            <a:r>
              <a:rPr sz="3000" spc="-2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Identifying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Human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Emotion.</a:t>
            </a:r>
            <a:endParaRPr sz="3000" dirty="0">
              <a:latin typeface="Arial MT"/>
              <a:cs typeface="Arial MT"/>
            </a:endParaRPr>
          </a:p>
          <a:p>
            <a:pPr marL="355600" marR="2179320" indent="-343535">
              <a:lnSpc>
                <a:spcPct val="76700"/>
              </a:lnSpc>
              <a:spcBef>
                <a:spcPts val="670"/>
              </a:spcBef>
              <a:buChar char="•"/>
              <a:tabLst>
                <a:tab pos="355600" algn="l"/>
                <a:tab pos="356235" algn="l"/>
              </a:tabLst>
            </a:pPr>
            <a:r>
              <a:rPr sz="3000" spc="-30" dirty="0">
                <a:latin typeface="Arial MT"/>
                <a:cs typeface="Arial MT"/>
              </a:rPr>
              <a:t>Facial</a:t>
            </a:r>
            <a:r>
              <a:rPr sz="3000" spc="-75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expressions</a:t>
            </a:r>
            <a:r>
              <a:rPr sz="3000" spc="-7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are</a:t>
            </a:r>
            <a:r>
              <a:rPr sz="3000" spc="-9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form</a:t>
            </a:r>
            <a:r>
              <a:rPr sz="3000" spc="-8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nonverbal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communication.</a:t>
            </a:r>
            <a:endParaRPr sz="3000" dirty="0">
              <a:latin typeface="Arial MT"/>
              <a:cs typeface="Arial MT"/>
            </a:endParaRPr>
          </a:p>
          <a:p>
            <a:pPr marL="355600" indent="-343535">
              <a:lnSpc>
                <a:spcPts val="2980"/>
              </a:lnSpc>
              <a:buChar char="•"/>
              <a:tabLst>
                <a:tab pos="355600" algn="l"/>
                <a:tab pos="356235" algn="l"/>
              </a:tabLst>
            </a:pPr>
            <a:r>
              <a:rPr sz="3000" spc="-5" dirty="0">
                <a:latin typeface="Arial MT"/>
                <a:cs typeface="Arial MT"/>
              </a:rPr>
              <a:t>There is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20" dirty="0">
                <a:latin typeface="Arial MT"/>
                <a:cs typeface="Arial MT"/>
              </a:rPr>
              <a:t>strong</a:t>
            </a:r>
            <a:r>
              <a:rPr sz="3000" spc="-4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evidence </a:t>
            </a:r>
            <a:r>
              <a:rPr sz="3000" spc="-25" dirty="0">
                <a:latin typeface="Arial MT"/>
                <a:cs typeface="Arial MT"/>
              </a:rPr>
              <a:t>for</a:t>
            </a:r>
            <a:r>
              <a:rPr sz="3000" spc="-90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the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universal</a:t>
            </a:r>
            <a:endParaRPr sz="3000" dirty="0">
              <a:latin typeface="Arial MT"/>
              <a:cs typeface="Arial MT"/>
            </a:endParaRPr>
          </a:p>
          <a:p>
            <a:pPr marL="355600">
              <a:lnSpc>
                <a:spcPts val="2710"/>
              </a:lnSpc>
            </a:pPr>
            <a:r>
              <a:rPr sz="3000" spc="-25" dirty="0">
                <a:latin typeface="Arial MT"/>
                <a:cs typeface="Arial MT"/>
              </a:rPr>
              <a:t>facial</a:t>
            </a:r>
            <a:r>
              <a:rPr sz="3000" spc="-5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expressions</a:t>
            </a:r>
            <a:r>
              <a:rPr sz="3000" spc="-5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of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seven emotions </a:t>
            </a:r>
            <a:r>
              <a:rPr sz="3000" spc="-5" dirty="0">
                <a:latin typeface="Arial MT"/>
                <a:cs typeface="Arial MT"/>
              </a:rPr>
              <a:t>which</a:t>
            </a:r>
            <a:endParaRPr sz="3000" dirty="0">
              <a:latin typeface="Arial MT"/>
              <a:cs typeface="Arial MT"/>
            </a:endParaRPr>
          </a:p>
          <a:p>
            <a:pPr marL="355600" marR="939165">
              <a:lnSpc>
                <a:spcPct val="75300"/>
              </a:lnSpc>
              <a:spcBef>
                <a:spcPts val="445"/>
              </a:spcBef>
            </a:pPr>
            <a:r>
              <a:rPr sz="3000" dirty="0">
                <a:latin typeface="Arial MT"/>
                <a:cs typeface="Arial MT"/>
              </a:rPr>
              <a:t>include:</a:t>
            </a:r>
            <a:r>
              <a:rPr sz="3000" spc="-20" dirty="0">
                <a:latin typeface="Arial MT"/>
                <a:cs typeface="Arial MT"/>
              </a:rPr>
              <a:t> </a:t>
            </a:r>
            <a:r>
              <a:rPr sz="3000" spc="-25" dirty="0">
                <a:latin typeface="Arial MT"/>
                <a:cs typeface="Arial MT"/>
              </a:rPr>
              <a:t>neutral</a:t>
            </a:r>
            <a:r>
              <a:rPr sz="3000" spc="-40" dirty="0">
                <a:latin typeface="Arial MT"/>
                <a:cs typeface="Arial MT"/>
              </a:rPr>
              <a:t> happy,</a:t>
            </a:r>
            <a:r>
              <a:rPr sz="3000" spc="-105" dirty="0">
                <a:latin typeface="Arial MT"/>
                <a:cs typeface="Arial MT"/>
              </a:rPr>
              <a:t> </a:t>
            </a:r>
            <a:r>
              <a:rPr sz="3000" dirty="0">
                <a:latin typeface="Arial MT"/>
                <a:cs typeface="Arial MT"/>
              </a:rPr>
              <a:t>sadness,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35" dirty="0">
                <a:latin typeface="Arial MT"/>
                <a:cs typeface="Arial MT"/>
              </a:rPr>
              <a:t>anger, </a:t>
            </a:r>
            <a:r>
              <a:rPr sz="3000" spc="-819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disgust,</a:t>
            </a:r>
            <a:r>
              <a:rPr sz="3000" spc="-15" dirty="0">
                <a:latin typeface="Arial MT"/>
                <a:cs typeface="Arial MT"/>
              </a:rPr>
              <a:t> </a:t>
            </a:r>
            <a:r>
              <a:rPr sz="3000" spc="-50" dirty="0">
                <a:latin typeface="Arial MT"/>
                <a:cs typeface="Arial MT"/>
              </a:rPr>
              <a:t>fear,</a:t>
            </a:r>
            <a:r>
              <a:rPr sz="3000" spc="-130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and</a:t>
            </a:r>
            <a:r>
              <a:rPr sz="3000" spc="-3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surprise.</a:t>
            </a:r>
            <a:endParaRPr sz="3000" dirty="0">
              <a:latin typeface="Arial MT"/>
              <a:cs typeface="Arial MT"/>
            </a:endParaRPr>
          </a:p>
          <a:p>
            <a:pPr marL="355600" marR="5080" indent="-343535" algn="just">
              <a:lnSpc>
                <a:spcPct val="75500"/>
              </a:lnSpc>
              <a:spcBef>
                <a:spcPts val="680"/>
              </a:spcBef>
              <a:buChar char="•"/>
              <a:tabLst>
                <a:tab pos="356235" algn="l"/>
              </a:tabLst>
            </a:pPr>
            <a:r>
              <a:rPr sz="3000" dirty="0">
                <a:latin typeface="Arial MT"/>
                <a:cs typeface="Arial MT"/>
              </a:rPr>
              <a:t>It </a:t>
            </a:r>
            <a:r>
              <a:rPr sz="3000" spc="-5" dirty="0">
                <a:latin typeface="Arial MT"/>
                <a:cs typeface="Arial MT"/>
              </a:rPr>
              <a:t>is </a:t>
            </a:r>
            <a:r>
              <a:rPr sz="3000" dirty="0">
                <a:latin typeface="Arial MT"/>
                <a:cs typeface="Arial MT"/>
              </a:rPr>
              <a:t>very important </a:t>
            </a:r>
            <a:r>
              <a:rPr sz="3000" spc="-15" dirty="0">
                <a:latin typeface="Arial MT"/>
                <a:cs typeface="Arial MT"/>
              </a:rPr>
              <a:t>to </a:t>
            </a:r>
            <a:r>
              <a:rPr sz="3000" dirty="0">
                <a:latin typeface="Arial MT"/>
                <a:cs typeface="Arial MT"/>
              </a:rPr>
              <a:t>detect these emotions 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on </a:t>
            </a:r>
            <a:r>
              <a:rPr sz="3000" spc="-15" dirty="0">
                <a:latin typeface="Arial MT"/>
                <a:cs typeface="Arial MT"/>
              </a:rPr>
              <a:t>the </a:t>
            </a:r>
            <a:r>
              <a:rPr sz="3000" spc="-25" dirty="0">
                <a:latin typeface="Arial MT"/>
                <a:cs typeface="Arial MT"/>
              </a:rPr>
              <a:t>face </a:t>
            </a:r>
            <a:r>
              <a:rPr sz="3000" spc="-5" dirty="0">
                <a:latin typeface="Arial MT"/>
                <a:cs typeface="Arial MT"/>
              </a:rPr>
              <a:t>as </a:t>
            </a:r>
            <a:r>
              <a:rPr sz="3000" dirty="0">
                <a:latin typeface="Arial MT"/>
                <a:cs typeface="Arial MT"/>
              </a:rPr>
              <a:t>it has wide </a:t>
            </a:r>
            <a:r>
              <a:rPr sz="3000" spc="-20" dirty="0">
                <a:latin typeface="Arial MT"/>
                <a:cs typeface="Arial MT"/>
              </a:rPr>
              <a:t>applications </a:t>
            </a:r>
            <a:r>
              <a:rPr sz="3000" spc="-5" dirty="0">
                <a:latin typeface="Arial MT"/>
                <a:cs typeface="Arial MT"/>
              </a:rPr>
              <a:t>in </a:t>
            </a:r>
            <a:r>
              <a:rPr sz="3000" spc="-15" dirty="0">
                <a:latin typeface="Arial MT"/>
                <a:cs typeface="Arial MT"/>
              </a:rPr>
              <a:t>the 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field</a:t>
            </a:r>
            <a:r>
              <a:rPr sz="3000" dirty="0">
                <a:latin typeface="Arial MT"/>
                <a:cs typeface="Arial MT"/>
              </a:rPr>
              <a:t> of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Computer</a:t>
            </a:r>
            <a:r>
              <a:rPr sz="3000" dirty="0">
                <a:latin typeface="Arial MT"/>
                <a:cs typeface="Arial MT"/>
              </a:rPr>
              <a:t> Vision</a:t>
            </a:r>
            <a:r>
              <a:rPr sz="3000" spc="5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and</a:t>
            </a:r>
            <a:r>
              <a:rPr sz="3000" dirty="0">
                <a:latin typeface="Arial MT"/>
                <a:cs typeface="Arial MT"/>
              </a:rPr>
              <a:t> </a:t>
            </a:r>
            <a:r>
              <a:rPr sz="3000" spc="-15" dirty="0">
                <a:latin typeface="Arial MT"/>
                <a:cs typeface="Arial MT"/>
              </a:rPr>
              <a:t>Artificial </a:t>
            </a:r>
            <a:r>
              <a:rPr sz="3000" spc="-10" dirty="0">
                <a:latin typeface="Arial MT"/>
                <a:cs typeface="Arial MT"/>
              </a:rPr>
              <a:t> </a:t>
            </a:r>
            <a:r>
              <a:rPr sz="3000" spc="-5" dirty="0">
                <a:latin typeface="Arial MT"/>
                <a:cs typeface="Arial MT"/>
              </a:rPr>
              <a:t>Intelligence.</a:t>
            </a:r>
            <a:endParaRPr sz="30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56102" y="437133"/>
            <a:ext cx="3441700" cy="1339850"/>
          </a:xfrm>
          <a:prstGeom prst="rect">
            <a:avLst/>
          </a:prstGeom>
        </p:spPr>
        <p:txBody>
          <a:bodyPr vert="horz" wrap="square" lIns="0" tIns="53975" rIns="0" bIns="0" rtlCol="0">
            <a:spAutoFit/>
          </a:bodyPr>
          <a:lstStyle/>
          <a:p>
            <a:pPr marL="12700" marR="5080" indent="309245">
              <a:lnSpc>
                <a:spcPts val="5060"/>
              </a:lnSpc>
              <a:spcBef>
                <a:spcPts val="425"/>
              </a:spcBef>
            </a:pPr>
            <a:r>
              <a:rPr dirty="0">
                <a:latin typeface="Arial"/>
                <a:cs typeface="Arial"/>
              </a:rPr>
              <a:t>PROBLEM </a:t>
            </a:r>
            <a:r>
              <a:rPr spc="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STA</a:t>
            </a:r>
            <a:r>
              <a:rPr spc="-15" dirty="0">
                <a:latin typeface="Arial"/>
                <a:cs typeface="Arial"/>
              </a:rPr>
              <a:t>T</a:t>
            </a:r>
            <a:r>
              <a:rPr dirty="0">
                <a:latin typeface="Arial"/>
                <a:cs typeface="Arial"/>
              </a:rPr>
              <a:t>EMENT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2133727"/>
            <a:ext cx="8155305" cy="43224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5260" indent="-163195">
              <a:lnSpc>
                <a:spcPts val="1895"/>
              </a:lnSpc>
              <a:spcBef>
                <a:spcPts val="100"/>
              </a:spcBef>
              <a:buChar char="•"/>
              <a:tabLst>
                <a:tab pos="175895" algn="l"/>
              </a:tabLst>
            </a:pPr>
            <a:r>
              <a:rPr sz="1800" spc="5" dirty="0">
                <a:latin typeface="Arial MT"/>
                <a:cs typeface="Arial MT"/>
              </a:rPr>
              <a:t>Global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Education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System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undergoes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rapid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changes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over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last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10 years</a:t>
            </a:r>
            <a:endParaRPr sz="1800" dirty="0">
              <a:latin typeface="Arial MT"/>
              <a:cs typeface="Arial MT"/>
            </a:endParaRPr>
          </a:p>
          <a:p>
            <a:pPr marL="355600">
              <a:lnSpc>
                <a:spcPts val="1625"/>
              </a:lnSpc>
            </a:pPr>
            <a:r>
              <a:rPr sz="1800" dirty="0">
                <a:latin typeface="Arial MT"/>
                <a:cs typeface="Arial MT"/>
              </a:rPr>
              <a:t>owing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advancement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web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based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learning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services,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specifically,</a:t>
            </a:r>
            <a:endParaRPr sz="1800" dirty="0">
              <a:latin typeface="Arial MT"/>
              <a:cs typeface="Arial MT"/>
            </a:endParaRPr>
          </a:p>
          <a:p>
            <a:pPr marL="355600">
              <a:lnSpc>
                <a:spcPts val="1625"/>
              </a:lnSpc>
            </a:pPr>
            <a:r>
              <a:rPr sz="1800" spc="-5" dirty="0">
                <a:latin typeface="Arial MT"/>
                <a:cs typeface="Arial MT"/>
              </a:rPr>
              <a:t>eLearning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platforms.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Global</a:t>
            </a:r>
            <a:r>
              <a:rPr sz="1800" spc="-1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E-learning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grown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upto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8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times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India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is</a:t>
            </a:r>
          </a:p>
          <a:p>
            <a:pPr marL="355600" marR="659130">
              <a:lnSpc>
                <a:spcPct val="75600"/>
              </a:lnSpc>
              <a:spcBef>
                <a:spcPts val="260"/>
              </a:spcBef>
            </a:pPr>
            <a:r>
              <a:rPr sz="1800" spc="-5" dirty="0">
                <a:latin typeface="Arial MT"/>
                <a:cs typeface="Arial MT"/>
              </a:rPr>
              <a:t>expected </a:t>
            </a:r>
            <a:r>
              <a:rPr sz="1800" dirty="0">
                <a:latin typeface="Arial MT"/>
                <a:cs typeface="Arial MT"/>
              </a:rPr>
              <a:t>to grow </a:t>
            </a:r>
            <a:r>
              <a:rPr sz="1800" spc="-5" dirty="0">
                <a:latin typeface="Arial MT"/>
                <a:cs typeface="Arial MT"/>
              </a:rPr>
              <a:t>with a </a:t>
            </a:r>
            <a:r>
              <a:rPr sz="1800" dirty="0">
                <a:latin typeface="Arial MT"/>
                <a:cs typeface="Arial MT"/>
              </a:rPr>
              <a:t>CAGR of </a:t>
            </a:r>
            <a:r>
              <a:rPr sz="1800" spc="-5" dirty="0">
                <a:latin typeface="Arial MT"/>
                <a:cs typeface="Arial MT"/>
              </a:rPr>
              <a:t>44% crossing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10M </a:t>
            </a:r>
            <a:r>
              <a:rPr sz="1800" dirty="0">
                <a:latin typeface="Arial MT"/>
                <a:cs typeface="Arial MT"/>
              </a:rPr>
              <a:t>users mark in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2021.</a:t>
            </a:r>
            <a:endParaRPr sz="1800" dirty="0">
              <a:latin typeface="Arial MT"/>
              <a:cs typeface="Arial MT"/>
            </a:endParaRPr>
          </a:p>
          <a:p>
            <a:pPr marL="173990" indent="-161925">
              <a:lnSpc>
                <a:spcPts val="1820"/>
              </a:lnSpc>
              <a:buChar char="•"/>
              <a:tabLst>
                <a:tab pos="174625" algn="l"/>
              </a:tabLst>
            </a:pPr>
            <a:r>
              <a:rPr sz="1800" spc="-5" dirty="0">
                <a:latin typeface="Arial MT"/>
                <a:cs typeface="Arial MT"/>
              </a:rPr>
              <a:t>Despite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market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growth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there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30" dirty="0">
                <a:latin typeface="Arial MT"/>
                <a:cs typeface="Arial MT"/>
              </a:rPr>
              <a:t>few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challenges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associated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with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20" dirty="0">
                <a:latin typeface="Arial MT"/>
                <a:cs typeface="Arial MT"/>
              </a:rPr>
              <a:t>digitallearning</a:t>
            </a:r>
            <a:endParaRPr sz="1800" dirty="0">
              <a:latin typeface="Arial MT"/>
              <a:cs typeface="Arial MT"/>
            </a:endParaRPr>
          </a:p>
          <a:p>
            <a:pPr marL="355600">
              <a:lnSpc>
                <a:spcPts val="2014"/>
              </a:lnSpc>
            </a:pPr>
            <a:r>
              <a:rPr sz="1800" spc="-5" dirty="0">
                <a:latin typeface="Arial MT"/>
                <a:cs typeface="Arial MT"/>
              </a:rPr>
              <a:t>when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compared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conventional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classroom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based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learning</a:t>
            </a:r>
            <a:endParaRPr sz="1800" dirty="0">
              <a:latin typeface="Arial MT"/>
              <a:cs typeface="Arial MT"/>
            </a:endParaRPr>
          </a:p>
          <a:p>
            <a:pPr marL="175260" indent="-163195">
              <a:lnSpc>
                <a:spcPts val="1855"/>
              </a:lnSpc>
              <a:buChar char="•"/>
              <a:tabLst>
                <a:tab pos="175895" algn="l"/>
              </a:tabLst>
            </a:pPr>
            <a:r>
              <a:rPr sz="1800" spc="5" dirty="0">
                <a:latin typeface="Arial MT"/>
                <a:cs typeface="Arial MT"/>
              </a:rPr>
              <a:t>Adaptive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Teaching: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Digital</a:t>
            </a:r>
            <a:r>
              <a:rPr sz="1800" spc="-1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learning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provides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good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quality</a:t>
            </a:r>
            <a:r>
              <a:rPr sz="1800" spc="-10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content</a:t>
            </a:r>
            <a:r>
              <a:rPr sz="1800" spc="-8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but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less</a:t>
            </a:r>
            <a:endParaRPr sz="1800" dirty="0">
              <a:latin typeface="Arial MT"/>
              <a:cs typeface="Arial MT"/>
            </a:endParaRPr>
          </a:p>
          <a:p>
            <a:pPr marL="355600" marR="614045">
              <a:lnSpc>
                <a:spcPct val="75600"/>
              </a:lnSpc>
              <a:spcBef>
                <a:spcPts val="265"/>
              </a:spcBef>
            </a:pPr>
            <a:r>
              <a:rPr sz="1800" spc="5" dirty="0">
                <a:latin typeface="Arial MT"/>
                <a:cs typeface="Arial MT"/>
              </a:rPr>
              <a:t>adaptive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for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20" dirty="0">
                <a:latin typeface="Arial MT"/>
                <a:cs typeface="Arial MT"/>
              </a:rPr>
              <a:t>teacher.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physical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classroom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teacher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can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see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faces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3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assess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emotion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tune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their</a:t>
            </a:r>
            <a:r>
              <a:rPr sz="1800" spc="-3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lecture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accordingly</a:t>
            </a:r>
            <a:endParaRPr sz="1800" dirty="0">
              <a:latin typeface="Arial MT"/>
              <a:cs typeface="Arial MT"/>
            </a:endParaRPr>
          </a:p>
          <a:p>
            <a:pPr marL="175260" indent="-163195">
              <a:lnSpc>
                <a:spcPts val="1789"/>
              </a:lnSpc>
              <a:buChar char="•"/>
              <a:tabLst>
                <a:tab pos="175895" algn="l"/>
              </a:tabLst>
            </a:pPr>
            <a:r>
              <a:rPr sz="1800" dirty="0">
                <a:latin typeface="Arial MT"/>
                <a:cs typeface="Arial MT"/>
              </a:rPr>
              <a:t>In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Digital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classrooms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it’s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not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possible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for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medium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scale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class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(25-50)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see</a:t>
            </a:r>
            <a:endParaRPr sz="1800" dirty="0">
              <a:latin typeface="Arial MT"/>
              <a:cs typeface="Arial MT"/>
            </a:endParaRPr>
          </a:p>
          <a:p>
            <a:pPr marL="355600" marR="157480">
              <a:lnSpc>
                <a:spcPct val="75600"/>
              </a:lnSpc>
              <a:spcBef>
                <a:spcPts val="265"/>
              </a:spcBef>
            </a:pPr>
            <a:r>
              <a:rPr sz="1800" spc="5" dirty="0">
                <a:latin typeface="Arial MT"/>
                <a:cs typeface="Arial MT"/>
              </a:rPr>
              <a:t>all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students</a:t>
            </a:r>
            <a:r>
              <a:rPr sz="1800" spc="-4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access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mood.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students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are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not</a:t>
            </a:r>
            <a:r>
              <a:rPr sz="1800" spc="-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focusing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on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content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due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lack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-5" dirty="0">
                <a:latin typeface="Arial MT"/>
                <a:cs typeface="Arial MT"/>
              </a:rPr>
              <a:t>surveillance.</a:t>
            </a:r>
            <a:endParaRPr sz="1800" dirty="0">
              <a:latin typeface="Arial MT"/>
              <a:cs typeface="Arial MT"/>
            </a:endParaRPr>
          </a:p>
          <a:p>
            <a:pPr marL="175260" indent="-163195">
              <a:lnSpc>
                <a:spcPts val="1789"/>
              </a:lnSpc>
              <a:buChar char="•"/>
              <a:tabLst>
                <a:tab pos="175895" algn="l"/>
              </a:tabLst>
            </a:pPr>
            <a:r>
              <a:rPr sz="1800" spc="-5" dirty="0">
                <a:latin typeface="Arial MT"/>
                <a:cs typeface="Arial MT"/>
              </a:rPr>
              <a:t>But</a:t>
            </a:r>
            <a:r>
              <a:rPr sz="1800" spc="7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with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power</a:t>
            </a:r>
            <a:r>
              <a:rPr sz="1800" spc="-1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of</a:t>
            </a:r>
            <a:r>
              <a:rPr sz="1800" spc="-2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AI</a:t>
            </a:r>
            <a:r>
              <a:rPr sz="1800" spc="7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and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Computer</a:t>
            </a:r>
            <a:r>
              <a:rPr sz="1800" spc="-1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Vision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Deep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learning</a:t>
            </a:r>
            <a:r>
              <a:rPr sz="1800" spc="-9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backed</a:t>
            </a:r>
            <a:endParaRPr sz="1800" dirty="0">
              <a:latin typeface="Arial MT"/>
              <a:cs typeface="Arial MT"/>
            </a:endParaRPr>
          </a:p>
          <a:p>
            <a:pPr marL="355600">
              <a:lnSpc>
                <a:spcPts val="1630"/>
              </a:lnSpc>
            </a:pPr>
            <a:r>
              <a:rPr sz="1800" spc="-15" dirty="0">
                <a:latin typeface="Arial MT"/>
                <a:cs typeface="Arial MT"/>
              </a:rPr>
              <a:t>system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only</a:t>
            </a:r>
            <a:r>
              <a:rPr sz="1800" spc="6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solves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 </a:t>
            </a:r>
            <a:r>
              <a:rPr sz="1800" spc="-5" dirty="0">
                <a:latin typeface="Arial MT"/>
                <a:cs typeface="Arial MT"/>
              </a:rPr>
              <a:t>surveillance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issue,</a:t>
            </a:r>
            <a:r>
              <a:rPr sz="1800" spc="1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but</a:t>
            </a:r>
            <a:r>
              <a:rPr sz="1800" spc="4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it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also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removes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</a:p>
          <a:p>
            <a:pPr marL="355600">
              <a:lnSpc>
                <a:spcPts val="1630"/>
              </a:lnSpc>
            </a:pPr>
            <a:r>
              <a:rPr sz="1800" dirty="0">
                <a:latin typeface="Arial MT"/>
                <a:cs typeface="Arial MT"/>
              </a:rPr>
              <a:t>human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bias</a:t>
            </a:r>
            <a:r>
              <a:rPr sz="1800" spc="5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from the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spc="-15" dirty="0">
                <a:latin typeface="Arial MT"/>
                <a:cs typeface="Arial MT"/>
              </a:rPr>
              <a:t>system,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all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information is</a:t>
            </a:r>
            <a:r>
              <a:rPr sz="1800" spc="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no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longer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in</a:t>
            </a:r>
            <a:r>
              <a:rPr sz="1800" spc="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the</a:t>
            </a:r>
          </a:p>
          <a:p>
            <a:pPr marL="355600" marR="759460">
              <a:lnSpc>
                <a:spcPct val="75600"/>
              </a:lnSpc>
              <a:spcBef>
                <a:spcPts val="260"/>
              </a:spcBef>
            </a:pPr>
            <a:r>
              <a:rPr sz="1800" spc="-5" dirty="0">
                <a:latin typeface="Arial MT"/>
                <a:cs typeface="Arial MT"/>
              </a:rPr>
              <a:t>teacher’s</a:t>
            </a:r>
            <a:r>
              <a:rPr sz="1800" dirty="0">
                <a:latin typeface="Arial MT"/>
                <a:cs typeface="Arial MT"/>
              </a:rPr>
              <a:t> brain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rather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translated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in</a:t>
            </a:r>
            <a:r>
              <a:rPr sz="1800" spc="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numbers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that</a:t>
            </a:r>
            <a:r>
              <a:rPr sz="1800" spc="-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can</a:t>
            </a:r>
            <a:r>
              <a:rPr sz="1800" spc="-1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be</a:t>
            </a:r>
            <a:r>
              <a:rPr sz="1800" spc="-2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analyzed</a:t>
            </a:r>
            <a:r>
              <a:rPr sz="1800" spc="-7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and </a:t>
            </a:r>
            <a:r>
              <a:rPr sz="1800" spc="-484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tracked.</a:t>
            </a:r>
            <a:endParaRPr sz="1800" dirty="0">
              <a:latin typeface="Arial MT"/>
              <a:cs typeface="Arial MT"/>
            </a:endParaRPr>
          </a:p>
          <a:p>
            <a:pPr marL="173990" indent="-161925">
              <a:lnSpc>
                <a:spcPts val="2039"/>
              </a:lnSpc>
              <a:buChar char="•"/>
              <a:tabLst>
                <a:tab pos="174625" algn="l"/>
              </a:tabLst>
            </a:pPr>
            <a:r>
              <a:rPr sz="1800" dirty="0">
                <a:latin typeface="Arial MT"/>
                <a:cs typeface="Arial MT"/>
              </a:rPr>
              <a:t>The</a:t>
            </a:r>
            <a:r>
              <a:rPr sz="1800" spc="-5" dirty="0">
                <a:latin typeface="Arial MT"/>
                <a:cs typeface="Arial MT"/>
              </a:rPr>
              <a:t> proposed</a:t>
            </a:r>
            <a:r>
              <a:rPr sz="1800" spc="-60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solution</a:t>
            </a:r>
            <a:r>
              <a:rPr sz="1800" spc="-5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to</a:t>
            </a:r>
            <a:r>
              <a:rPr sz="1800" spc="-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this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problem</a:t>
            </a:r>
            <a:r>
              <a:rPr sz="1800" spc="-8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is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by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recognizing</a:t>
            </a:r>
            <a:r>
              <a:rPr sz="1800" spc="-40" dirty="0">
                <a:latin typeface="Arial MT"/>
                <a:cs typeface="Arial MT"/>
              </a:rPr>
              <a:t> </a:t>
            </a:r>
            <a:r>
              <a:rPr sz="1800" dirty="0">
                <a:latin typeface="Arial MT"/>
                <a:cs typeface="Arial MT"/>
              </a:rPr>
              <a:t>facial</a:t>
            </a:r>
            <a:r>
              <a:rPr sz="1800" spc="-14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emotions.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68982" y="437133"/>
            <a:ext cx="462026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DATA</a:t>
            </a:r>
            <a:r>
              <a:rPr spc="-9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SUMMARY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9841"/>
            <a:ext cx="8094345" cy="1588135"/>
          </a:xfrm>
          <a:prstGeom prst="rect">
            <a:avLst/>
          </a:prstGeom>
        </p:spPr>
        <p:txBody>
          <a:bodyPr vert="horz" wrap="square" lIns="0" tIns="29209" rIns="0" bIns="0" rtlCol="0">
            <a:spAutoFit/>
          </a:bodyPr>
          <a:lstStyle/>
          <a:p>
            <a:pPr marL="355600" marR="5080" indent="-343535" algn="just">
              <a:lnSpc>
                <a:spcPct val="93900"/>
              </a:lnSpc>
              <a:spcBef>
                <a:spcPts val="229"/>
              </a:spcBef>
            </a:pPr>
            <a:r>
              <a:rPr sz="1800" spc="-5" dirty="0">
                <a:latin typeface="Arial MT"/>
                <a:cs typeface="Arial MT"/>
              </a:rPr>
              <a:t>* </a:t>
            </a:r>
            <a:r>
              <a:rPr sz="1800" dirty="0">
                <a:latin typeface="Arial MT"/>
                <a:cs typeface="Arial MT"/>
              </a:rPr>
              <a:t>I have </a:t>
            </a:r>
            <a:r>
              <a:rPr sz="1800" spc="10" dirty="0">
                <a:latin typeface="Arial MT"/>
                <a:cs typeface="Arial MT"/>
              </a:rPr>
              <a:t>built </a:t>
            </a:r>
            <a:r>
              <a:rPr sz="1800" spc="-5" dirty="0">
                <a:latin typeface="Arial MT"/>
                <a:cs typeface="Arial MT"/>
              </a:rPr>
              <a:t>a deep learning model </a:t>
            </a:r>
            <a:r>
              <a:rPr sz="1800" dirty="0">
                <a:latin typeface="Arial MT"/>
                <a:cs typeface="Arial MT"/>
              </a:rPr>
              <a:t>which </a:t>
            </a:r>
            <a:r>
              <a:rPr sz="1800" spc="-5" dirty="0">
                <a:latin typeface="Arial MT"/>
                <a:cs typeface="Arial MT"/>
              </a:rPr>
              <a:t>detects the real </a:t>
            </a:r>
            <a:r>
              <a:rPr sz="1800" dirty="0">
                <a:latin typeface="Arial MT"/>
                <a:cs typeface="Arial MT"/>
              </a:rPr>
              <a:t>time </a:t>
            </a:r>
            <a:r>
              <a:rPr sz="1800" spc="-5" dirty="0">
                <a:latin typeface="Arial MT"/>
                <a:cs typeface="Arial MT"/>
              </a:rPr>
              <a:t>emotions </a:t>
            </a:r>
            <a:r>
              <a:rPr sz="1800" dirty="0">
                <a:latin typeface="Arial MT"/>
                <a:cs typeface="Arial MT"/>
              </a:rPr>
              <a:t>of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students through a webcam </a:t>
            </a:r>
            <a:r>
              <a:rPr sz="1800" spc="-10" dirty="0">
                <a:latin typeface="Arial MT"/>
                <a:cs typeface="Arial MT"/>
              </a:rPr>
              <a:t>so </a:t>
            </a:r>
            <a:r>
              <a:rPr sz="1800" spc="5" dirty="0">
                <a:latin typeface="Arial MT"/>
                <a:cs typeface="Arial MT"/>
              </a:rPr>
              <a:t>that </a:t>
            </a:r>
            <a:r>
              <a:rPr sz="1800" spc="-5" dirty="0">
                <a:latin typeface="Arial MT"/>
                <a:cs typeface="Arial MT"/>
              </a:rPr>
              <a:t>teachers can understand </a:t>
            </a:r>
            <a:r>
              <a:rPr sz="1800" dirty="0">
                <a:latin typeface="Arial MT"/>
                <a:cs typeface="Arial MT"/>
              </a:rPr>
              <a:t>if </a:t>
            </a:r>
            <a:r>
              <a:rPr sz="1800" spc="-5" dirty="0">
                <a:latin typeface="Arial MT"/>
                <a:cs typeface="Arial MT"/>
              </a:rPr>
              <a:t>students are </a:t>
            </a:r>
            <a:r>
              <a:rPr sz="1800" dirty="0">
                <a:latin typeface="Arial MT"/>
                <a:cs typeface="Arial MT"/>
              </a:rPr>
              <a:t> </a:t>
            </a:r>
            <a:r>
              <a:rPr sz="1800" spc="10" dirty="0">
                <a:latin typeface="Arial MT"/>
                <a:cs typeface="Arial MT"/>
              </a:rPr>
              <a:t>able </a:t>
            </a:r>
            <a:r>
              <a:rPr sz="1800" dirty="0">
                <a:latin typeface="Arial MT"/>
                <a:cs typeface="Arial MT"/>
              </a:rPr>
              <a:t>to </a:t>
            </a:r>
            <a:r>
              <a:rPr sz="1800" spc="-5" dirty="0">
                <a:latin typeface="Arial MT"/>
                <a:cs typeface="Arial MT"/>
              </a:rPr>
              <a:t>grasp the </a:t>
            </a:r>
            <a:r>
              <a:rPr sz="1800" spc="5" dirty="0">
                <a:latin typeface="Arial MT"/>
                <a:cs typeface="Arial MT"/>
              </a:rPr>
              <a:t>topic </a:t>
            </a:r>
            <a:r>
              <a:rPr sz="1800" dirty="0">
                <a:latin typeface="Arial MT"/>
                <a:cs typeface="Arial MT"/>
              </a:rPr>
              <a:t>according to </a:t>
            </a:r>
            <a:r>
              <a:rPr sz="1800" spc="-5" dirty="0">
                <a:latin typeface="Arial MT"/>
                <a:cs typeface="Arial MT"/>
              </a:rPr>
              <a:t>students' expressions </a:t>
            </a:r>
            <a:r>
              <a:rPr sz="1800" dirty="0">
                <a:latin typeface="Arial MT"/>
                <a:cs typeface="Arial MT"/>
              </a:rPr>
              <a:t>or </a:t>
            </a:r>
            <a:r>
              <a:rPr sz="1800" spc="5" dirty="0">
                <a:latin typeface="Arial MT"/>
                <a:cs typeface="Arial MT"/>
              </a:rPr>
              <a:t>emotions and 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then deploy </a:t>
            </a:r>
            <a:r>
              <a:rPr sz="1800" dirty="0">
                <a:latin typeface="Arial MT"/>
                <a:cs typeface="Arial MT"/>
              </a:rPr>
              <a:t>the model. The </a:t>
            </a:r>
            <a:r>
              <a:rPr sz="1800" spc="-5" dirty="0">
                <a:latin typeface="Arial MT"/>
                <a:cs typeface="Arial MT"/>
              </a:rPr>
              <a:t>model </a:t>
            </a:r>
            <a:r>
              <a:rPr sz="1800" dirty="0">
                <a:latin typeface="Arial MT"/>
                <a:cs typeface="Arial MT"/>
              </a:rPr>
              <a:t>is trained </a:t>
            </a:r>
            <a:r>
              <a:rPr sz="1800" spc="-20" dirty="0">
                <a:latin typeface="Arial MT"/>
                <a:cs typeface="Arial MT"/>
              </a:rPr>
              <a:t>on </a:t>
            </a:r>
            <a:r>
              <a:rPr sz="1800" dirty="0">
                <a:latin typeface="Arial MT"/>
                <a:cs typeface="Arial MT"/>
              </a:rPr>
              <a:t>the FER-2013 </a:t>
            </a:r>
            <a:r>
              <a:rPr sz="1800" spc="-5" dirty="0">
                <a:latin typeface="Arial MT"/>
                <a:cs typeface="Arial MT"/>
              </a:rPr>
              <a:t>dataset </a:t>
            </a:r>
            <a:r>
              <a:rPr sz="1800" dirty="0">
                <a:latin typeface="Arial MT"/>
                <a:cs typeface="Arial MT"/>
              </a:rPr>
              <a:t>. </a:t>
            </a:r>
            <a:r>
              <a:rPr sz="1800" spc="-10" dirty="0">
                <a:latin typeface="Arial MT"/>
                <a:cs typeface="Arial MT"/>
              </a:rPr>
              <a:t>This </a:t>
            </a:r>
            <a:r>
              <a:rPr sz="1800" spc="-49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dataset </a:t>
            </a:r>
            <a:r>
              <a:rPr sz="1800" dirty="0">
                <a:latin typeface="Arial MT"/>
                <a:cs typeface="Arial MT"/>
              </a:rPr>
              <a:t>consists </a:t>
            </a:r>
            <a:r>
              <a:rPr sz="1800" spc="5" dirty="0">
                <a:latin typeface="Arial MT"/>
                <a:cs typeface="Arial MT"/>
              </a:rPr>
              <a:t>of </a:t>
            </a:r>
            <a:r>
              <a:rPr sz="1800" spc="-20" dirty="0">
                <a:latin typeface="Arial MT"/>
                <a:cs typeface="Arial MT"/>
              </a:rPr>
              <a:t>35887 </a:t>
            </a:r>
            <a:r>
              <a:rPr sz="1800" spc="-5" dirty="0">
                <a:latin typeface="Arial MT"/>
                <a:cs typeface="Arial MT"/>
              </a:rPr>
              <a:t>grayscale, </a:t>
            </a:r>
            <a:r>
              <a:rPr sz="1800" spc="-20" dirty="0">
                <a:latin typeface="Arial MT"/>
                <a:cs typeface="Arial MT"/>
              </a:rPr>
              <a:t>48x48 </a:t>
            </a:r>
            <a:r>
              <a:rPr sz="1800" spc="-25" dirty="0">
                <a:latin typeface="Arial MT"/>
                <a:cs typeface="Arial MT"/>
              </a:rPr>
              <a:t>sized </a:t>
            </a:r>
            <a:r>
              <a:rPr sz="1800" dirty="0">
                <a:latin typeface="Arial MT"/>
                <a:cs typeface="Arial MT"/>
              </a:rPr>
              <a:t>face </a:t>
            </a:r>
            <a:r>
              <a:rPr sz="1800" spc="-5" dirty="0">
                <a:latin typeface="Arial MT"/>
                <a:cs typeface="Arial MT"/>
              </a:rPr>
              <a:t>images with </a:t>
            </a:r>
            <a:r>
              <a:rPr sz="1800" dirty="0">
                <a:latin typeface="Arial MT"/>
                <a:cs typeface="Arial MT"/>
              </a:rPr>
              <a:t>seven 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emotions</a:t>
            </a:r>
            <a:r>
              <a:rPr sz="1800" dirty="0">
                <a:latin typeface="Arial MT"/>
                <a:cs typeface="Arial MT"/>
              </a:rPr>
              <a:t> -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25" dirty="0">
                <a:latin typeface="Arial MT"/>
                <a:cs typeface="Arial MT"/>
              </a:rPr>
              <a:t>angry,</a:t>
            </a:r>
            <a:r>
              <a:rPr sz="1800" spc="-3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disgusted,</a:t>
            </a:r>
            <a:r>
              <a:rPr sz="1800" spc="1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fearful,</a:t>
            </a:r>
            <a:r>
              <a:rPr sz="1800" spc="5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happy,</a:t>
            </a:r>
            <a:r>
              <a:rPr sz="1800" spc="25" dirty="0">
                <a:latin typeface="Arial MT"/>
                <a:cs typeface="Arial MT"/>
              </a:rPr>
              <a:t> </a:t>
            </a:r>
            <a:r>
              <a:rPr sz="1800" spc="5" dirty="0">
                <a:latin typeface="Arial MT"/>
                <a:cs typeface="Arial MT"/>
              </a:rPr>
              <a:t>neutral,</a:t>
            </a:r>
            <a:r>
              <a:rPr sz="1800" spc="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sad </a:t>
            </a:r>
            <a:r>
              <a:rPr sz="1800" spc="5" dirty="0">
                <a:latin typeface="Arial MT"/>
                <a:cs typeface="Arial MT"/>
              </a:rPr>
              <a:t>and</a:t>
            </a:r>
            <a:r>
              <a:rPr sz="1800" spc="-250" dirty="0">
                <a:latin typeface="Arial MT"/>
                <a:cs typeface="Arial MT"/>
              </a:rPr>
              <a:t> </a:t>
            </a:r>
            <a:r>
              <a:rPr sz="1800" spc="-5" dirty="0">
                <a:latin typeface="Arial MT"/>
                <a:cs typeface="Arial MT"/>
              </a:rPr>
              <a:t>surprised.</a:t>
            </a:r>
            <a:endParaRPr sz="18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75005" y="3325495"/>
            <a:ext cx="7241921" cy="2708274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203450" y="446277"/>
            <a:ext cx="474853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Face</a:t>
            </a:r>
            <a:r>
              <a:rPr spc="-80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embeddings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610613"/>
            <a:ext cx="7867015" cy="2571115"/>
          </a:xfrm>
          <a:prstGeom prst="rect">
            <a:avLst/>
          </a:prstGeom>
        </p:spPr>
        <p:txBody>
          <a:bodyPr vert="horz" wrap="square" lIns="0" tIns="5715" rIns="0" bIns="0" rtlCol="0">
            <a:spAutoFit/>
          </a:bodyPr>
          <a:lstStyle/>
          <a:p>
            <a:pPr marL="355600" marR="5080" indent="-343535">
              <a:lnSpc>
                <a:spcPct val="101499"/>
              </a:lnSpc>
              <a:spcBef>
                <a:spcPts val="45"/>
              </a:spcBef>
              <a:buChar char="•"/>
              <a:tabLst>
                <a:tab pos="355600" algn="l"/>
                <a:tab pos="356235" algn="l"/>
                <a:tab pos="3147695" algn="l"/>
              </a:tabLst>
            </a:pP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By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creating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face embeddings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you are </a:t>
            </a:r>
            <a:r>
              <a:rPr sz="2750" spc="-20" dirty="0">
                <a:solidFill>
                  <a:srgbClr val="1F1F22"/>
                </a:solidFill>
                <a:latin typeface="Arial MT"/>
                <a:cs typeface="Arial MT"/>
              </a:rPr>
              <a:t>converting </a:t>
            </a:r>
            <a:r>
              <a:rPr sz="2750" spc="-1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a face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image </a:t>
            </a:r>
            <a:r>
              <a:rPr sz="2750" spc="-20" dirty="0">
                <a:solidFill>
                  <a:srgbClr val="1F1F22"/>
                </a:solidFill>
                <a:latin typeface="Arial MT"/>
                <a:cs typeface="Arial MT"/>
              </a:rPr>
              <a:t>into numerical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data. </a:t>
            </a:r>
            <a:r>
              <a:rPr sz="2750" dirty="0">
                <a:solidFill>
                  <a:srgbClr val="1F1F22"/>
                </a:solidFill>
                <a:latin typeface="Arial MT"/>
                <a:cs typeface="Arial MT"/>
              </a:rPr>
              <a:t>That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data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is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15" dirty="0">
                <a:solidFill>
                  <a:srgbClr val="1F1F22"/>
                </a:solidFill>
                <a:latin typeface="Arial MT"/>
                <a:cs typeface="Arial MT"/>
              </a:rPr>
              <a:t>then</a:t>
            </a:r>
            <a:r>
              <a:rPr sz="2750" spc="34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represented	</a:t>
            </a:r>
            <a:r>
              <a:rPr sz="2750" spc="-20" dirty="0">
                <a:solidFill>
                  <a:srgbClr val="1F1F22"/>
                </a:solidFill>
                <a:latin typeface="Arial MT"/>
                <a:cs typeface="Arial MT"/>
              </a:rPr>
              <a:t>as</a:t>
            </a:r>
            <a:r>
              <a:rPr sz="2750" spc="-4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a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vector</a:t>
            </a:r>
            <a:r>
              <a:rPr sz="2750" spc="-5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in</a:t>
            </a:r>
            <a:r>
              <a:rPr sz="2750" spc="-9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a </a:t>
            </a:r>
            <a:r>
              <a:rPr sz="2750" spc="-40" dirty="0">
                <a:solidFill>
                  <a:srgbClr val="1F1F22"/>
                </a:solidFill>
                <a:latin typeface="Arial MT"/>
                <a:cs typeface="Arial MT"/>
              </a:rPr>
              <a:t>latent</a:t>
            </a:r>
            <a:r>
              <a:rPr sz="2750" spc="-65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semantic </a:t>
            </a:r>
            <a:r>
              <a:rPr sz="2750" spc="-75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15" dirty="0">
                <a:solidFill>
                  <a:srgbClr val="1F1F22"/>
                </a:solidFill>
                <a:latin typeface="Arial MT"/>
                <a:cs typeface="Arial MT"/>
              </a:rPr>
              <a:t>space. </a:t>
            </a:r>
            <a:r>
              <a:rPr sz="2750" dirty="0">
                <a:solidFill>
                  <a:srgbClr val="1F1F22"/>
                </a:solidFill>
                <a:latin typeface="Arial MT"/>
                <a:cs typeface="Arial MT"/>
              </a:rPr>
              <a:t>The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closer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the embeddings </a:t>
            </a:r>
            <a:r>
              <a:rPr sz="2750" spc="-20" dirty="0">
                <a:solidFill>
                  <a:srgbClr val="1F1F22"/>
                </a:solidFill>
                <a:latin typeface="Arial MT"/>
                <a:cs typeface="Arial MT"/>
              </a:rPr>
              <a:t>are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to </a:t>
            </a:r>
            <a:r>
              <a:rPr sz="2750" spc="-15" dirty="0">
                <a:solidFill>
                  <a:srgbClr val="1F1F22"/>
                </a:solidFill>
                <a:latin typeface="Arial MT"/>
                <a:cs typeface="Arial MT"/>
              </a:rPr>
              <a:t>each </a:t>
            </a:r>
            <a:r>
              <a:rPr sz="2750" spc="-1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other </a:t>
            </a:r>
            <a:r>
              <a:rPr sz="2750" spc="-30" dirty="0">
                <a:solidFill>
                  <a:srgbClr val="1F1F22"/>
                </a:solidFill>
                <a:latin typeface="Arial MT"/>
                <a:cs typeface="Arial MT"/>
              </a:rPr>
              <a:t>in </a:t>
            </a:r>
            <a:r>
              <a:rPr sz="2750" dirty="0">
                <a:solidFill>
                  <a:srgbClr val="1F1F22"/>
                </a:solidFill>
                <a:latin typeface="Arial MT"/>
                <a:cs typeface="Arial MT"/>
              </a:rPr>
              <a:t>the </a:t>
            </a:r>
            <a:r>
              <a:rPr sz="2750" spc="-35" dirty="0">
                <a:solidFill>
                  <a:srgbClr val="1F1F22"/>
                </a:solidFill>
                <a:latin typeface="Arial MT"/>
                <a:cs typeface="Arial MT"/>
              </a:rPr>
              <a:t>latent </a:t>
            </a:r>
            <a:r>
              <a:rPr sz="2750" spc="-20" dirty="0">
                <a:solidFill>
                  <a:srgbClr val="1F1F22"/>
                </a:solidFill>
                <a:latin typeface="Arial MT"/>
                <a:cs typeface="Arial MT"/>
              </a:rPr>
              <a:t>space,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the more </a:t>
            </a:r>
            <a:r>
              <a:rPr sz="2750" spc="-35" dirty="0">
                <a:solidFill>
                  <a:srgbClr val="1F1F22"/>
                </a:solidFill>
                <a:latin typeface="Arial MT"/>
                <a:cs typeface="Arial MT"/>
              </a:rPr>
              <a:t>likely </a:t>
            </a:r>
            <a:r>
              <a:rPr sz="2750" spc="-15" dirty="0">
                <a:solidFill>
                  <a:srgbClr val="1F1F22"/>
                </a:solidFill>
                <a:latin typeface="Arial MT"/>
                <a:cs typeface="Arial MT"/>
              </a:rPr>
              <a:t>they </a:t>
            </a:r>
            <a:r>
              <a:rPr sz="2750" spc="-35" dirty="0">
                <a:solidFill>
                  <a:srgbClr val="1F1F22"/>
                </a:solidFill>
                <a:latin typeface="Arial MT"/>
                <a:cs typeface="Arial MT"/>
              </a:rPr>
              <a:t>are </a:t>
            </a:r>
            <a:r>
              <a:rPr sz="2750" spc="-75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of</a:t>
            </a:r>
            <a:r>
              <a:rPr sz="2750" spc="3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5" dirty="0">
                <a:solidFill>
                  <a:srgbClr val="1F1F22"/>
                </a:solidFill>
                <a:latin typeface="Arial MT"/>
                <a:cs typeface="Arial MT"/>
              </a:rPr>
              <a:t>the</a:t>
            </a:r>
            <a:r>
              <a:rPr sz="275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spc="-25" dirty="0">
                <a:solidFill>
                  <a:srgbClr val="1F1F22"/>
                </a:solidFill>
                <a:latin typeface="Arial MT"/>
                <a:cs typeface="Arial MT"/>
              </a:rPr>
              <a:t>same</a:t>
            </a:r>
            <a:r>
              <a:rPr sz="2750" spc="180" dirty="0">
                <a:solidFill>
                  <a:srgbClr val="1F1F22"/>
                </a:solidFill>
                <a:latin typeface="Arial MT"/>
                <a:cs typeface="Arial MT"/>
              </a:rPr>
              <a:t> </a:t>
            </a:r>
            <a:r>
              <a:rPr sz="2750" dirty="0">
                <a:solidFill>
                  <a:srgbClr val="1F1F22"/>
                </a:solidFill>
                <a:latin typeface="Arial MT"/>
                <a:cs typeface="Arial MT"/>
              </a:rPr>
              <a:t>person.</a:t>
            </a:r>
            <a:endParaRPr sz="275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43000" y="4339590"/>
            <a:ext cx="5486400" cy="2181225"/>
          </a:xfrm>
          <a:prstGeom prst="rect">
            <a:avLst/>
          </a:prstGeom>
        </p:spPr>
      </p:pic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875" y="124713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358898" y="487426"/>
            <a:ext cx="4436110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DEPENDENCI</a:t>
            </a:r>
            <a:r>
              <a:rPr spc="-25" dirty="0">
                <a:latin typeface="Arial"/>
                <a:cs typeface="Arial"/>
              </a:rPr>
              <a:t>E</a:t>
            </a:r>
            <a:r>
              <a:rPr dirty="0">
                <a:latin typeface="Arial"/>
                <a:cs typeface="Arial"/>
              </a:rPr>
              <a:t>S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36166"/>
            <a:ext cx="3091180" cy="33553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13799"/>
              </a:lnSpc>
              <a:spcBef>
                <a:spcPts val="100"/>
              </a:spcBef>
            </a:pPr>
            <a:r>
              <a:rPr sz="3100" dirty="0">
                <a:latin typeface="Arial MT"/>
                <a:cs typeface="Arial MT"/>
              </a:rPr>
              <a:t>1. </a:t>
            </a:r>
            <a:r>
              <a:rPr sz="3200" dirty="0">
                <a:latin typeface="Arial MT"/>
                <a:cs typeface="Arial MT"/>
              </a:rPr>
              <a:t>Python 3 </a:t>
            </a:r>
            <a:r>
              <a:rPr sz="3200" spc="5" dirty="0">
                <a:latin typeface="Arial MT"/>
                <a:cs typeface="Arial MT"/>
              </a:rPr>
              <a:t> </a:t>
            </a:r>
            <a:r>
              <a:rPr sz="3100" spc="-15" dirty="0">
                <a:latin typeface="Arial MT"/>
                <a:cs typeface="Arial MT"/>
              </a:rPr>
              <a:t>2.</a:t>
            </a:r>
            <a:r>
              <a:rPr sz="3200" spc="-15" dirty="0">
                <a:latin typeface="Arial MT"/>
                <a:cs typeface="Arial MT"/>
              </a:rPr>
              <a:t>Tensorflow </a:t>
            </a:r>
            <a:r>
              <a:rPr sz="3200" dirty="0">
                <a:latin typeface="Arial MT"/>
                <a:cs typeface="Arial MT"/>
              </a:rPr>
              <a:t>2.0 </a:t>
            </a:r>
            <a:r>
              <a:rPr sz="3200" spc="-875" dirty="0">
                <a:latin typeface="Arial MT"/>
                <a:cs typeface="Arial MT"/>
              </a:rPr>
              <a:t> </a:t>
            </a:r>
            <a:r>
              <a:rPr sz="3200" spc="-5" dirty="0">
                <a:latin typeface="Arial MT"/>
                <a:cs typeface="Arial MT"/>
              </a:rPr>
              <a:t>3.Streamlit </a:t>
            </a:r>
            <a:r>
              <a:rPr sz="3200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4.Streamlit- </a:t>
            </a:r>
            <a:r>
              <a:rPr sz="3200" spc="-25" dirty="0">
                <a:latin typeface="Arial MT"/>
                <a:cs typeface="Arial MT"/>
              </a:rPr>
              <a:t> Webrtc </a:t>
            </a:r>
            <a:r>
              <a:rPr sz="3200" spc="-20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5.OpenCV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43510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557398" y="437133"/>
            <a:ext cx="403034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Arial"/>
                <a:cs typeface="Arial"/>
              </a:rPr>
              <a:t>Model</a:t>
            </a:r>
            <a:r>
              <a:rPr spc="-75" dirty="0">
                <a:latin typeface="Arial"/>
                <a:cs typeface="Arial"/>
              </a:rPr>
              <a:t> </a:t>
            </a:r>
            <a:r>
              <a:rPr dirty="0">
                <a:latin typeface="Arial"/>
                <a:cs typeface="Arial"/>
              </a:rPr>
              <a:t>Building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781050" y="1906219"/>
            <a:ext cx="7882890" cy="4192270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535940" y="1577086"/>
            <a:ext cx="7731125" cy="2236470"/>
          </a:xfrm>
          <a:prstGeom prst="rect">
            <a:avLst/>
          </a:prstGeom>
        </p:spPr>
        <p:txBody>
          <a:bodyPr vert="horz" wrap="square" lIns="0" tIns="31750" rIns="0" bIns="0" rtlCol="0">
            <a:spAutoFit/>
          </a:bodyPr>
          <a:lstStyle/>
          <a:p>
            <a:pPr marL="355600" marR="5080" indent="-343535">
              <a:lnSpc>
                <a:spcPct val="93900"/>
              </a:lnSpc>
              <a:spcBef>
                <a:spcPts val="250"/>
              </a:spcBef>
              <a:buSzPct val="95000"/>
              <a:buAutoNum type="arabicParenR"/>
              <a:tabLst>
                <a:tab pos="355600" algn="l"/>
                <a:tab pos="356235" algn="l"/>
              </a:tabLst>
            </a:pPr>
            <a:r>
              <a:rPr sz="2000" spc="-45" dirty="0">
                <a:latin typeface="Arial MT"/>
                <a:cs typeface="Arial MT"/>
              </a:rPr>
              <a:t>Transfer </a:t>
            </a:r>
            <a:r>
              <a:rPr sz="2000" spc="-20" dirty="0">
                <a:latin typeface="Arial MT"/>
                <a:cs typeface="Arial MT"/>
              </a:rPr>
              <a:t>learning </a:t>
            </a:r>
            <a:r>
              <a:rPr sz="2000" dirty="0">
                <a:latin typeface="Arial MT"/>
                <a:cs typeface="Arial MT"/>
              </a:rPr>
              <a:t>: </a:t>
            </a:r>
            <a:r>
              <a:rPr sz="2000" spc="-20" dirty="0">
                <a:latin typeface="Arial MT"/>
                <a:cs typeface="Arial MT"/>
              </a:rPr>
              <a:t>MobileNetV2-removing </a:t>
            </a:r>
            <a:r>
              <a:rPr sz="2000" dirty="0">
                <a:latin typeface="Arial MT"/>
                <a:cs typeface="Arial MT"/>
              </a:rPr>
              <a:t>last </a:t>
            </a:r>
            <a:r>
              <a:rPr sz="2000" spc="-15" dirty="0">
                <a:latin typeface="Arial MT"/>
                <a:cs typeface="Arial MT"/>
              </a:rPr>
              <a:t>layer </a:t>
            </a:r>
            <a:r>
              <a:rPr sz="2000" dirty="0">
                <a:latin typeface="Arial MT"/>
                <a:cs typeface="Arial MT"/>
              </a:rPr>
              <a:t>+ some 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additional </a:t>
            </a:r>
            <a:r>
              <a:rPr sz="2000" spc="-5" dirty="0">
                <a:latin typeface="Arial MT"/>
                <a:cs typeface="Arial MT"/>
              </a:rPr>
              <a:t>dense</a:t>
            </a:r>
            <a:r>
              <a:rPr sz="200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layer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+ </a:t>
            </a:r>
            <a:r>
              <a:rPr sz="2000" spc="-15" dirty="0">
                <a:latin typeface="Arial MT"/>
                <a:cs typeface="Arial MT"/>
              </a:rPr>
              <a:t>adding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Final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Layer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Contains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seven</a:t>
            </a:r>
            <a:r>
              <a:rPr sz="2000" spc="-35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output </a:t>
            </a:r>
            <a:r>
              <a:rPr sz="2000" spc="-54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equivalent </a:t>
            </a:r>
            <a:r>
              <a:rPr sz="2000" dirty="0">
                <a:latin typeface="Arial MT"/>
                <a:cs typeface="Arial MT"/>
              </a:rPr>
              <a:t>to number of classes </a:t>
            </a:r>
            <a:r>
              <a:rPr sz="2000" spc="-5" dirty="0">
                <a:latin typeface="Arial MT"/>
                <a:cs typeface="Arial MT"/>
              </a:rPr>
              <a:t>i.e </a:t>
            </a:r>
            <a:r>
              <a:rPr sz="2000" spc="-35" dirty="0">
                <a:latin typeface="Arial MT"/>
                <a:cs typeface="Arial MT"/>
              </a:rPr>
              <a:t>angry, </a:t>
            </a:r>
            <a:r>
              <a:rPr sz="2000" dirty="0">
                <a:latin typeface="Arial MT"/>
                <a:cs typeface="Arial MT"/>
              </a:rPr>
              <a:t>disgust, </a:t>
            </a:r>
            <a:r>
              <a:rPr sz="2000" spc="-55" dirty="0">
                <a:latin typeface="Arial MT"/>
                <a:cs typeface="Arial MT"/>
              </a:rPr>
              <a:t>fear, </a:t>
            </a:r>
            <a:r>
              <a:rPr sz="2000" spc="-35" dirty="0">
                <a:latin typeface="Arial MT"/>
                <a:cs typeface="Arial MT"/>
              </a:rPr>
              <a:t>happy, </a:t>
            </a:r>
            <a:r>
              <a:rPr sz="2000" spc="-3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neutral,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sad,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and</a:t>
            </a:r>
            <a:r>
              <a:rPr sz="2000" spc="-22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surprise</a:t>
            </a:r>
          </a:p>
          <a:p>
            <a:pPr marL="279400" indent="-267335">
              <a:lnSpc>
                <a:spcPct val="100000"/>
              </a:lnSpc>
              <a:spcBef>
                <a:spcPts val="345"/>
              </a:spcBef>
              <a:buSzPct val="95000"/>
              <a:buAutoNum type="arabicParenR"/>
              <a:tabLst>
                <a:tab pos="280035" algn="l"/>
              </a:tabLst>
            </a:pPr>
            <a:r>
              <a:rPr sz="2000" spc="-35" dirty="0">
                <a:latin typeface="Arial MT"/>
                <a:cs typeface="Arial MT"/>
              </a:rPr>
              <a:t>Face</a:t>
            </a:r>
            <a:r>
              <a:rPr sz="2000" spc="-80" dirty="0">
                <a:latin typeface="Arial MT"/>
                <a:cs typeface="Arial MT"/>
              </a:rPr>
              <a:t> </a:t>
            </a:r>
            <a:r>
              <a:rPr sz="2000" spc="-25" dirty="0">
                <a:latin typeface="Arial MT"/>
                <a:cs typeface="Arial MT"/>
              </a:rPr>
              <a:t>Detection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: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Haar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Cascascade</a:t>
            </a:r>
            <a:r>
              <a:rPr sz="2000" spc="-40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Classifier</a:t>
            </a:r>
            <a:endParaRPr sz="2000" dirty="0">
              <a:latin typeface="Arial MT"/>
              <a:cs typeface="Arial MT"/>
            </a:endParaRPr>
          </a:p>
          <a:p>
            <a:pPr marL="335915" indent="-267970">
              <a:lnSpc>
                <a:spcPct val="100000"/>
              </a:lnSpc>
              <a:spcBef>
                <a:spcPts val="385"/>
              </a:spcBef>
              <a:buSzPct val="95000"/>
              <a:buAutoNum type="arabicParenR"/>
              <a:tabLst>
                <a:tab pos="336550" algn="l"/>
              </a:tabLst>
            </a:pPr>
            <a:r>
              <a:rPr sz="2000" spc="-15" dirty="0">
                <a:latin typeface="Arial MT"/>
                <a:cs typeface="Arial MT"/>
              </a:rPr>
              <a:t>Building</a:t>
            </a:r>
            <a:r>
              <a:rPr sz="2000" spc="-45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web</a:t>
            </a:r>
            <a:r>
              <a:rPr sz="2000" spc="-6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app</a:t>
            </a:r>
            <a:r>
              <a:rPr sz="2000" spc="-25" dirty="0">
                <a:latin typeface="Arial MT"/>
                <a:cs typeface="Arial MT"/>
              </a:rPr>
              <a:t> </a:t>
            </a:r>
            <a:r>
              <a:rPr sz="2000" spc="-10" dirty="0">
                <a:latin typeface="Arial MT"/>
                <a:cs typeface="Arial MT"/>
              </a:rPr>
              <a:t>via</a:t>
            </a:r>
            <a:r>
              <a:rPr sz="2000" spc="-7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streamlit</a:t>
            </a:r>
          </a:p>
          <a:p>
            <a:pPr marL="335915" indent="-267970">
              <a:lnSpc>
                <a:spcPct val="100000"/>
              </a:lnSpc>
              <a:spcBef>
                <a:spcPts val="315"/>
              </a:spcBef>
              <a:buSzPct val="95000"/>
              <a:buAutoNum type="arabicParenR"/>
              <a:tabLst>
                <a:tab pos="336550" algn="l"/>
              </a:tabLst>
            </a:pPr>
            <a:r>
              <a:rPr sz="2000" spc="-20" dirty="0">
                <a:latin typeface="Arial MT"/>
                <a:cs typeface="Arial MT"/>
              </a:rPr>
              <a:t>webcam</a:t>
            </a:r>
            <a:r>
              <a:rPr sz="2000" spc="-50" dirty="0">
                <a:latin typeface="Arial MT"/>
                <a:cs typeface="Arial MT"/>
              </a:rPr>
              <a:t> </a:t>
            </a:r>
            <a:r>
              <a:rPr sz="2000" spc="-40" dirty="0">
                <a:latin typeface="Arial MT"/>
                <a:cs typeface="Arial MT"/>
              </a:rPr>
              <a:t>feed</a:t>
            </a:r>
            <a:r>
              <a:rPr sz="2000" spc="-85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image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dirty="0">
                <a:latin typeface="Arial MT"/>
                <a:cs typeface="Arial MT"/>
              </a:rPr>
              <a:t>in</a:t>
            </a:r>
            <a:r>
              <a:rPr sz="2000" spc="5" dirty="0">
                <a:latin typeface="Arial MT"/>
                <a:cs typeface="Arial MT"/>
              </a:rPr>
              <a:t> </a:t>
            </a:r>
            <a:r>
              <a:rPr sz="2000" spc="-5" dirty="0">
                <a:latin typeface="Arial MT"/>
                <a:cs typeface="Arial MT"/>
              </a:rPr>
              <a:t>model</a:t>
            </a:r>
            <a:r>
              <a:rPr sz="2000" spc="10" dirty="0">
                <a:latin typeface="Arial MT"/>
                <a:cs typeface="Arial MT"/>
              </a:rPr>
              <a:t> </a:t>
            </a:r>
            <a:r>
              <a:rPr sz="2000" spc="-15" dirty="0">
                <a:latin typeface="Arial MT"/>
                <a:cs typeface="Arial MT"/>
              </a:rPr>
              <a:t>via</a:t>
            </a:r>
            <a:r>
              <a:rPr sz="2000" spc="-10" dirty="0">
                <a:latin typeface="Arial MT"/>
                <a:cs typeface="Arial MT"/>
              </a:rPr>
              <a:t> </a:t>
            </a:r>
            <a:r>
              <a:rPr sz="2000" spc="-20" dirty="0">
                <a:latin typeface="Arial MT"/>
                <a:cs typeface="Arial MT"/>
              </a:rPr>
              <a:t>streamlit-webrtc</a:t>
            </a:r>
            <a:endParaRPr sz="2000" dirty="0">
              <a:latin typeface="Arial MT"/>
              <a:cs typeface="Arial MT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40195"/>
            <a:ext cx="847725" cy="83757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518285" y="4134472"/>
            <a:ext cx="6058535" cy="2491613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24454" y="437133"/>
            <a:ext cx="390588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>
                <a:latin typeface="Arial"/>
                <a:cs typeface="Arial"/>
              </a:rPr>
              <a:t>DEPLOYMENT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535940" y="1528318"/>
            <a:ext cx="8325484" cy="3683509"/>
          </a:xfrm>
          <a:prstGeom prst="rect">
            <a:avLst/>
          </a:prstGeom>
        </p:spPr>
        <p:txBody>
          <a:bodyPr vert="horz" wrap="square" lIns="0" tIns="42545" rIns="0" bIns="0" rtlCol="0">
            <a:spAutoFit/>
          </a:bodyPr>
          <a:lstStyle/>
          <a:p>
            <a:pPr marL="355600" marR="393065" indent="-343535">
              <a:lnSpc>
                <a:spcPct val="93900"/>
              </a:lnSpc>
              <a:spcBef>
                <a:spcPts val="335"/>
              </a:spcBef>
              <a:buChar char="•"/>
              <a:tabLst>
                <a:tab pos="355600" algn="l"/>
                <a:tab pos="356235" algn="l"/>
              </a:tabLst>
            </a:pPr>
            <a:r>
              <a:rPr sz="3200" spc="-30" dirty="0">
                <a:latin typeface="Arial MT"/>
                <a:cs typeface="Arial MT"/>
              </a:rPr>
              <a:t>Different </a:t>
            </a:r>
            <a:r>
              <a:rPr sz="3200" spc="-10" dirty="0">
                <a:latin typeface="Arial MT"/>
                <a:cs typeface="Arial MT"/>
              </a:rPr>
              <a:t>type </a:t>
            </a:r>
            <a:r>
              <a:rPr sz="3200" dirty="0">
                <a:latin typeface="Arial MT"/>
                <a:cs typeface="Arial MT"/>
              </a:rPr>
              <a:t>of Deployment </a:t>
            </a:r>
            <a:r>
              <a:rPr sz="3200" spc="-5" dirty="0">
                <a:latin typeface="Arial MT"/>
                <a:cs typeface="Arial MT"/>
              </a:rPr>
              <a:t>Platform </a:t>
            </a:r>
            <a:r>
              <a:rPr sz="3200" dirty="0">
                <a:latin typeface="Arial MT"/>
                <a:cs typeface="Arial MT"/>
              </a:rPr>
              <a:t> such</a:t>
            </a:r>
            <a:r>
              <a:rPr sz="3200" spc="-1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as</a:t>
            </a:r>
            <a:r>
              <a:rPr sz="3200" spc="1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Azure,</a:t>
            </a:r>
            <a:r>
              <a:rPr sz="3200" spc="-50" dirty="0">
                <a:latin typeface="Arial MT"/>
                <a:cs typeface="Arial MT"/>
              </a:rPr>
              <a:t> </a:t>
            </a:r>
            <a:r>
              <a:rPr sz="3200" spc="-15" dirty="0">
                <a:latin typeface="Arial MT"/>
                <a:cs typeface="Arial MT"/>
              </a:rPr>
              <a:t>Heruko,</a:t>
            </a:r>
            <a:r>
              <a:rPr sz="3200" spc="-55" dirty="0">
                <a:latin typeface="Arial MT"/>
                <a:cs typeface="Arial MT"/>
              </a:rPr>
              <a:t> </a:t>
            </a:r>
            <a:r>
              <a:rPr sz="3200" dirty="0">
                <a:latin typeface="Arial MT"/>
                <a:cs typeface="Arial MT"/>
              </a:rPr>
              <a:t>Streamlit-Sharing, </a:t>
            </a:r>
            <a:r>
              <a:rPr sz="3200" spc="-869" dirty="0">
                <a:latin typeface="Arial MT"/>
                <a:cs typeface="Arial MT"/>
              </a:rPr>
              <a:t> </a:t>
            </a:r>
            <a:r>
              <a:rPr sz="3200" spc="-65" dirty="0">
                <a:latin typeface="Arial MT"/>
                <a:cs typeface="Arial MT"/>
              </a:rPr>
              <a:t>AW</a:t>
            </a:r>
            <a:r>
              <a:rPr sz="3200" dirty="0">
                <a:latin typeface="Arial MT"/>
                <a:cs typeface="Arial MT"/>
              </a:rPr>
              <a:t>S</a:t>
            </a:r>
            <a:r>
              <a:rPr sz="3200" spc="-245" dirty="0">
                <a:latin typeface="Arial MT"/>
                <a:cs typeface="Arial MT"/>
              </a:rPr>
              <a:t> </a:t>
            </a:r>
            <a:r>
              <a:rPr sz="3200" spc="-30" dirty="0">
                <a:latin typeface="Arial MT"/>
                <a:cs typeface="Arial MT"/>
              </a:rPr>
              <a:t>e</a:t>
            </a:r>
            <a:r>
              <a:rPr sz="3200" spc="-40" dirty="0">
                <a:latin typeface="Arial MT"/>
                <a:cs typeface="Arial MT"/>
              </a:rPr>
              <a:t>t</a:t>
            </a:r>
            <a:r>
              <a:rPr sz="3200" spc="-45" dirty="0">
                <a:latin typeface="Arial MT"/>
                <a:cs typeface="Arial MT"/>
              </a:rPr>
              <a:t>c</a:t>
            </a:r>
            <a:r>
              <a:rPr sz="3200" dirty="0">
                <a:latin typeface="Arial MT"/>
                <a:cs typeface="Arial MT"/>
              </a:rPr>
              <a:t>.</a:t>
            </a:r>
          </a:p>
          <a:p>
            <a:pPr>
              <a:lnSpc>
                <a:spcPct val="100000"/>
              </a:lnSpc>
              <a:buFont typeface="Arial MT"/>
              <a:buChar char="•"/>
            </a:pPr>
            <a:endParaRPr sz="3600" dirty="0">
              <a:latin typeface="Arial MT"/>
              <a:cs typeface="Arial MT"/>
            </a:endParaRPr>
          </a:p>
          <a:p>
            <a:pPr>
              <a:lnSpc>
                <a:spcPct val="100000"/>
              </a:lnSpc>
              <a:spcBef>
                <a:spcPts val="50"/>
              </a:spcBef>
              <a:buFont typeface="Arial MT"/>
              <a:buChar char="•"/>
            </a:pPr>
            <a:endParaRPr sz="4550" dirty="0">
              <a:latin typeface="Arial MT"/>
              <a:cs typeface="Arial MT"/>
            </a:endParaRPr>
          </a:p>
          <a:p>
            <a:pPr marL="355600" indent="-343535">
              <a:lnSpc>
                <a:spcPct val="100000"/>
              </a:lnSpc>
              <a:buChar char="•"/>
              <a:tabLst>
                <a:tab pos="355600" algn="l"/>
                <a:tab pos="356235" algn="l"/>
              </a:tabLst>
            </a:pPr>
            <a:r>
              <a:rPr lang="en-US" sz="3200" dirty="0">
                <a:latin typeface="Arial MT"/>
                <a:cs typeface="Arial MT"/>
              </a:rPr>
              <a:t>https://share.streamlit.io/sandeep0097-97/face-emotion-recoginition/main</a:t>
            </a:r>
            <a:endParaRPr sz="3200" dirty="0">
              <a:latin typeface="Arial MT"/>
              <a:cs typeface="Arial MT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191382" y="437133"/>
            <a:ext cx="275907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Predic</a:t>
            </a:r>
            <a:r>
              <a:rPr spc="-15" dirty="0">
                <a:latin typeface="Arial"/>
                <a:cs typeface="Arial"/>
              </a:rPr>
              <a:t>t</a:t>
            </a:r>
            <a:r>
              <a:rPr dirty="0">
                <a:latin typeface="Arial"/>
                <a:cs typeface="Arial"/>
              </a:rPr>
              <a:t>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4705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768350" algn="l"/>
              </a:tabLst>
            </a:pPr>
            <a:r>
              <a:rPr spc="5" dirty="0"/>
              <a:t>F</a:t>
            </a:r>
            <a:r>
              <a:rPr dirty="0"/>
              <a:t>i</a:t>
            </a:r>
            <a:r>
              <a:rPr spc="10" dirty="0"/>
              <a:t>n</a:t>
            </a:r>
            <a:r>
              <a:rPr spc="15" dirty="0"/>
              <a:t>a</a:t>
            </a:r>
            <a:r>
              <a:rPr dirty="0"/>
              <a:t>lly</a:t>
            </a:r>
            <a:r>
              <a:rPr spc="40" dirty="0"/>
              <a:t> </a:t>
            </a:r>
            <a:r>
              <a:rPr dirty="0"/>
              <a:t>I</a:t>
            </a:r>
            <a:r>
              <a:rPr spc="-5" dirty="0"/>
              <a:t> </a:t>
            </a:r>
            <a:r>
              <a:rPr dirty="0"/>
              <a:t>b</a:t>
            </a:r>
            <a:r>
              <a:rPr spc="20" dirty="0"/>
              <a:t>u</a:t>
            </a:r>
            <a:r>
              <a:rPr dirty="0"/>
              <a:t>i</a:t>
            </a:r>
            <a:r>
              <a:rPr spc="10" dirty="0"/>
              <a:t>l</a:t>
            </a:r>
            <a:r>
              <a:rPr dirty="0"/>
              <a:t>d</a:t>
            </a:r>
            <a:r>
              <a:rPr spc="35" dirty="0"/>
              <a:t> </a:t>
            </a:r>
            <a:r>
              <a:rPr spc="-20" dirty="0"/>
              <a:t>t</a:t>
            </a:r>
            <a:r>
              <a:rPr dirty="0"/>
              <a:t>he</a:t>
            </a:r>
            <a:r>
              <a:rPr spc="-15" dirty="0"/>
              <a:t> </a:t>
            </a:r>
            <a:r>
              <a:rPr spc="-30" dirty="0"/>
              <a:t>We</a:t>
            </a:r>
            <a:r>
              <a:rPr spc="-20" dirty="0"/>
              <a:t>b</a:t>
            </a:r>
            <a:r>
              <a:rPr spc="-40" dirty="0"/>
              <a:t>A</a:t>
            </a:r>
            <a:r>
              <a:rPr spc="-30" dirty="0"/>
              <a:t>p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u</a:t>
            </a:r>
            <a:r>
              <a:rPr spc="20" dirty="0"/>
              <a:t>s</a:t>
            </a:r>
            <a:r>
              <a:rPr dirty="0"/>
              <a:t>i</a:t>
            </a:r>
            <a:r>
              <a:rPr spc="25" dirty="0"/>
              <a:t>n</a:t>
            </a:r>
            <a:r>
              <a:rPr dirty="0"/>
              <a:t>g</a:t>
            </a:r>
            <a:r>
              <a:rPr spc="20" dirty="0"/>
              <a:t> </a:t>
            </a:r>
            <a:r>
              <a:rPr dirty="0"/>
              <a:t>s</a:t>
            </a:r>
            <a:r>
              <a:rPr spc="-35" dirty="0"/>
              <a:t>t</a:t>
            </a:r>
            <a:r>
              <a:rPr spc="-10" dirty="0"/>
              <a:t>r</a:t>
            </a:r>
            <a:r>
              <a:rPr spc="-20" dirty="0"/>
              <a:t>e</a:t>
            </a:r>
            <a:r>
              <a:rPr dirty="0"/>
              <a:t>a</a:t>
            </a:r>
            <a:r>
              <a:rPr spc="-25" dirty="0"/>
              <a:t>m</a:t>
            </a:r>
            <a:r>
              <a:rPr spc="-20" dirty="0"/>
              <a:t>l</a:t>
            </a:r>
            <a:r>
              <a:rPr spc="-30" dirty="0"/>
              <a:t>i</a:t>
            </a:r>
            <a:r>
              <a:rPr dirty="0"/>
              <a:t>t</a:t>
            </a:r>
            <a:r>
              <a:rPr spc="-295" dirty="0"/>
              <a:t> </a:t>
            </a:r>
            <a:r>
              <a:rPr spc="15" dirty="0"/>
              <a:t>and  </a:t>
            </a:r>
            <a:r>
              <a:rPr spc="-5" dirty="0"/>
              <a:t>deployed </a:t>
            </a:r>
            <a:r>
              <a:rPr dirty="0"/>
              <a:t>in Streamlit-Sharing.</a:t>
            </a:r>
          </a:p>
          <a:p>
            <a:pPr marL="814705" marR="1522730" indent="-343535">
              <a:lnSpc>
                <a:spcPts val="3600"/>
              </a:lnSpc>
              <a:spcBef>
                <a:spcPts val="1005"/>
              </a:spcBef>
            </a:pPr>
            <a:r>
              <a:rPr dirty="0"/>
              <a:t>The </a:t>
            </a:r>
            <a:r>
              <a:rPr spc="-5" dirty="0"/>
              <a:t>model which was created </a:t>
            </a:r>
            <a:r>
              <a:rPr dirty="0"/>
              <a:t>by CNN </a:t>
            </a:r>
            <a:r>
              <a:rPr spc="-875" dirty="0"/>
              <a:t> </a:t>
            </a:r>
            <a:r>
              <a:rPr dirty="0"/>
              <a:t>layers</a:t>
            </a:r>
            <a:r>
              <a:rPr spc="-5" dirty="0"/>
              <a:t> </a:t>
            </a:r>
            <a:r>
              <a:rPr dirty="0"/>
              <a:t>gave</a:t>
            </a:r>
            <a:r>
              <a:rPr spc="-5" dirty="0"/>
              <a:t> training</a:t>
            </a:r>
            <a:r>
              <a:rPr dirty="0"/>
              <a:t> </a:t>
            </a:r>
            <a:r>
              <a:rPr spc="-5" dirty="0"/>
              <a:t>accuracy</a:t>
            </a:r>
            <a:r>
              <a:rPr spc="-10" dirty="0"/>
              <a:t> </a:t>
            </a:r>
            <a:r>
              <a:rPr dirty="0"/>
              <a:t>of</a:t>
            </a:r>
            <a:r>
              <a:rPr spc="15" dirty="0"/>
              <a:t> </a:t>
            </a:r>
            <a:r>
              <a:rPr dirty="0"/>
              <a:t>95%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143875" y="125095"/>
            <a:ext cx="838200" cy="828675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322446" y="488950"/>
            <a:ext cx="2512695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b="0" dirty="0">
                <a:solidFill>
                  <a:srgbClr val="FF0000"/>
                </a:solidFill>
                <a:latin typeface="Arial MT"/>
                <a:cs typeface="Arial MT"/>
              </a:rPr>
              <a:t>Prediction</a:t>
            </a: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838200" y="1219200"/>
            <a:ext cx="3200400" cy="2819400"/>
          </a:xfrm>
          <a:prstGeom prst="rect">
            <a:avLst/>
          </a:prstGeom>
        </p:spPr>
      </p:pic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724400" y="4343400"/>
            <a:ext cx="3276600" cy="2322933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4866968" y="1170039"/>
            <a:ext cx="2819400" cy="2514600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914400" y="4191000"/>
            <a:ext cx="3124200" cy="2666362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685414" y="437133"/>
            <a:ext cx="3783329" cy="69659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>
                <a:latin typeface="Arial"/>
                <a:cs typeface="Arial"/>
              </a:rPr>
              <a:t>CONCLU</a:t>
            </a:r>
            <a:r>
              <a:rPr spc="-20" dirty="0">
                <a:latin typeface="Arial"/>
                <a:cs typeface="Arial"/>
              </a:rPr>
              <a:t>S</a:t>
            </a:r>
            <a:r>
              <a:rPr dirty="0">
                <a:latin typeface="Arial"/>
                <a:cs typeface="Arial"/>
              </a:rPr>
              <a:t>ION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814705" marR="5080" indent="-343535">
              <a:lnSpc>
                <a:spcPct val="100000"/>
              </a:lnSpc>
              <a:spcBef>
                <a:spcPts val="105"/>
              </a:spcBef>
              <a:buChar char="•"/>
              <a:tabLst>
                <a:tab pos="768350" algn="l"/>
              </a:tabLst>
            </a:pPr>
            <a:r>
              <a:rPr spc="5" dirty="0"/>
              <a:t>F</a:t>
            </a:r>
            <a:r>
              <a:rPr dirty="0"/>
              <a:t>i</a:t>
            </a:r>
            <a:r>
              <a:rPr spc="10" dirty="0"/>
              <a:t>n</a:t>
            </a:r>
            <a:r>
              <a:rPr spc="15" dirty="0"/>
              <a:t>a</a:t>
            </a:r>
            <a:r>
              <a:rPr dirty="0"/>
              <a:t>lly</a:t>
            </a:r>
            <a:r>
              <a:rPr spc="40" dirty="0"/>
              <a:t> </a:t>
            </a:r>
            <a:r>
              <a:rPr dirty="0"/>
              <a:t>I</a:t>
            </a:r>
            <a:r>
              <a:rPr spc="-5" dirty="0"/>
              <a:t> </a:t>
            </a:r>
            <a:r>
              <a:rPr dirty="0"/>
              <a:t>b</a:t>
            </a:r>
            <a:r>
              <a:rPr spc="20" dirty="0"/>
              <a:t>u</a:t>
            </a:r>
            <a:r>
              <a:rPr dirty="0"/>
              <a:t>i</a:t>
            </a:r>
            <a:r>
              <a:rPr spc="10" dirty="0"/>
              <a:t>l</a:t>
            </a:r>
            <a:r>
              <a:rPr dirty="0"/>
              <a:t>d</a:t>
            </a:r>
            <a:r>
              <a:rPr spc="35" dirty="0"/>
              <a:t> </a:t>
            </a:r>
            <a:r>
              <a:rPr spc="-20" dirty="0"/>
              <a:t>t</a:t>
            </a:r>
            <a:r>
              <a:rPr dirty="0"/>
              <a:t>he</a:t>
            </a:r>
            <a:r>
              <a:rPr spc="-15" dirty="0"/>
              <a:t> </a:t>
            </a:r>
            <a:r>
              <a:rPr spc="-30" dirty="0"/>
              <a:t>We</a:t>
            </a:r>
            <a:r>
              <a:rPr spc="-20" dirty="0"/>
              <a:t>b</a:t>
            </a:r>
            <a:r>
              <a:rPr spc="-40" dirty="0"/>
              <a:t>A</a:t>
            </a:r>
            <a:r>
              <a:rPr spc="-30" dirty="0"/>
              <a:t>p</a:t>
            </a:r>
            <a:r>
              <a:rPr dirty="0"/>
              <a:t>p</a:t>
            </a:r>
            <a:r>
              <a:rPr spc="-45" dirty="0"/>
              <a:t> </a:t>
            </a:r>
            <a:r>
              <a:rPr dirty="0"/>
              <a:t>u</a:t>
            </a:r>
            <a:r>
              <a:rPr spc="20" dirty="0"/>
              <a:t>s</a:t>
            </a:r>
            <a:r>
              <a:rPr dirty="0"/>
              <a:t>i</a:t>
            </a:r>
            <a:r>
              <a:rPr spc="25" dirty="0"/>
              <a:t>n</a:t>
            </a:r>
            <a:r>
              <a:rPr dirty="0"/>
              <a:t>g</a:t>
            </a:r>
            <a:r>
              <a:rPr spc="20" dirty="0"/>
              <a:t> </a:t>
            </a:r>
            <a:r>
              <a:rPr dirty="0"/>
              <a:t>s</a:t>
            </a:r>
            <a:r>
              <a:rPr spc="-35" dirty="0"/>
              <a:t>t</a:t>
            </a:r>
            <a:r>
              <a:rPr spc="-10" dirty="0"/>
              <a:t>r</a:t>
            </a:r>
            <a:r>
              <a:rPr spc="-20" dirty="0"/>
              <a:t>e</a:t>
            </a:r>
            <a:r>
              <a:rPr dirty="0"/>
              <a:t>a</a:t>
            </a:r>
            <a:r>
              <a:rPr spc="-25" dirty="0"/>
              <a:t>m</a:t>
            </a:r>
            <a:r>
              <a:rPr spc="-20" dirty="0"/>
              <a:t>l</a:t>
            </a:r>
            <a:r>
              <a:rPr spc="-30" dirty="0"/>
              <a:t>i</a:t>
            </a:r>
            <a:r>
              <a:rPr dirty="0"/>
              <a:t>t</a:t>
            </a:r>
            <a:r>
              <a:rPr spc="-295" dirty="0"/>
              <a:t> </a:t>
            </a:r>
            <a:r>
              <a:rPr spc="15" dirty="0"/>
              <a:t>and  </a:t>
            </a:r>
            <a:r>
              <a:rPr spc="-5" dirty="0"/>
              <a:t>deployed </a:t>
            </a:r>
            <a:r>
              <a:rPr dirty="0"/>
              <a:t>in streamlit sharing.</a:t>
            </a:r>
          </a:p>
          <a:p>
            <a:pPr marL="814705" marR="911225" indent="-343535">
              <a:lnSpc>
                <a:spcPct val="93800"/>
              </a:lnSpc>
              <a:spcBef>
                <a:spcPts val="925"/>
              </a:spcBef>
              <a:buChar char="•"/>
              <a:tabLst>
                <a:tab pos="768350" algn="l"/>
                <a:tab pos="3199765" algn="l"/>
              </a:tabLst>
            </a:pPr>
            <a:r>
              <a:rPr dirty="0"/>
              <a:t>The</a:t>
            </a:r>
            <a:r>
              <a:rPr spc="5" dirty="0"/>
              <a:t> </a:t>
            </a:r>
            <a:r>
              <a:rPr spc="-5" dirty="0"/>
              <a:t>model which </a:t>
            </a:r>
            <a:r>
              <a:rPr dirty="0"/>
              <a:t>was</a:t>
            </a:r>
            <a:r>
              <a:rPr spc="40" dirty="0"/>
              <a:t> </a:t>
            </a:r>
            <a:r>
              <a:rPr spc="-30" dirty="0"/>
              <a:t>created</a:t>
            </a:r>
            <a:r>
              <a:rPr spc="-75" dirty="0"/>
              <a:t> </a:t>
            </a:r>
            <a:r>
              <a:rPr spc="5" dirty="0"/>
              <a:t>by</a:t>
            </a:r>
            <a:r>
              <a:rPr spc="10" dirty="0"/>
              <a:t> </a:t>
            </a:r>
            <a:r>
              <a:rPr dirty="0"/>
              <a:t>CNN </a:t>
            </a:r>
            <a:r>
              <a:rPr spc="5" dirty="0"/>
              <a:t> </a:t>
            </a:r>
            <a:r>
              <a:rPr spc="-40" dirty="0"/>
              <a:t>layers</a:t>
            </a:r>
            <a:r>
              <a:rPr spc="-95" dirty="0"/>
              <a:t> </a:t>
            </a:r>
            <a:r>
              <a:rPr spc="-35" dirty="0"/>
              <a:t>gave	</a:t>
            </a:r>
            <a:r>
              <a:rPr dirty="0"/>
              <a:t>accuracy of 87%. I </a:t>
            </a:r>
            <a:r>
              <a:rPr spc="-10" dirty="0"/>
              <a:t>have </a:t>
            </a:r>
            <a:r>
              <a:rPr spc="-5" dirty="0"/>
              <a:t> </a:t>
            </a:r>
            <a:r>
              <a:rPr dirty="0"/>
              <a:t>used </a:t>
            </a:r>
            <a:r>
              <a:rPr spc="-25" dirty="0"/>
              <a:t>streamlit- </a:t>
            </a:r>
            <a:r>
              <a:rPr spc="-20" dirty="0"/>
              <a:t>webrtc </a:t>
            </a:r>
            <a:r>
              <a:rPr dirty="0"/>
              <a:t>which </a:t>
            </a:r>
            <a:r>
              <a:rPr spc="-5" dirty="0"/>
              <a:t>helped </a:t>
            </a:r>
            <a:r>
              <a:rPr spc="-15" dirty="0"/>
              <a:t>to </a:t>
            </a:r>
            <a:r>
              <a:rPr spc="-10" dirty="0"/>
              <a:t> </a:t>
            </a:r>
            <a:r>
              <a:rPr dirty="0"/>
              <a:t>deal</a:t>
            </a:r>
            <a:r>
              <a:rPr spc="-5" dirty="0"/>
              <a:t> with</a:t>
            </a:r>
            <a:r>
              <a:rPr dirty="0"/>
              <a:t> </a:t>
            </a:r>
            <a:r>
              <a:rPr spc="-20" dirty="0"/>
              <a:t>real-time</a:t>
            </a:r>
            <a:r>
              <a:rPr spc="-35" dirty="0"/>
              <a:t> </a:t>
            </a:r>
            <a:r>
              <a:rPr dirty="0"/>
              <a:t>video</a:t>
            </a:r>
            <a:r>
              <a:rPr spc="-10" dirty="0"/>
              <a:t> </a:t>
            </a:r>
            <a:r>
              <a:rPr spc="-20" dirty="0"/>
              <a:t>streams.</a:t>
            </a:r>
            <a:r>
              <a:rPr spc="-55" dirty="0"/>
              <a:t> </a:t>
            </a:r>
            <a:r>
              <a:rPr dirty="0"/>
              <a:t>Image </a:t>
            </a:r>
            <a:r>
              <a:rPr spc="-875" dirty="0"/>
              <a:t> </a:t>
            </a:r>
            <a:r>
              <a:rPr spc="-15" dirty="0"/>
              <a:t>captured </a:t>
            </a:r>
            <a:r>
              <a:rPr spc="-20" dirty="0"/>
              <a:t>from </a:t>
            </a:r>
            <a:r>
              <a:rPr dirty="0"/>
              <a:t>the </a:t>
            </a:r>
            <a:r>
              <a:rPr spc="-5" dirty="0"/>
              <a:t>webcam </a:t>
            </a:r>
            <a:r>
              <a:rPr dirty="0"/>
              <a:t>is </a:t>
            </a:r>
            <a:r>
              <a:rPr spc="-5" dirty="0"/>
              <a:t>sent </a:t>
            </a:r>
            <a:r>
              <a:rPr spc="-15" dirty="0"/>
              <a:t>to </a:t>
            </a:r>
            <a:r>
              <a:rPr spc="-10" dirty="0"/>
              <a:t> </a:t>
            </a:r>
            <a:r>
              <a:rPr spc="-30" dirty="0"/>
              <a:t>VideoTransformer </a:t>
            </a:r>
            <a:r>
              <a:rPr spc="-5" dirty="0"/>
              <a:t>function </a:t>
            </a:r>
            <a:r>
              <a:rPr spc="-15" dirty="0"/>
              <a:t>to </a:t>
            </a:r>
            <a:r>
              <a:rPr spc="-20" dirty="0"/>
              <a:t>detect </a:t>
            </a:r>
            <a:r>
              <a:rPr dirty="0"/>
              <a:t>the </a:t>
            </a:r>
            <a:r>
              <a:rPr spc="5" dirty="0"/>
              <a:t> </a:t>
            </a:r>
            <a:r>
              <a:rPr dirty="0"/>
              <a:t>emotion.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2657475" y="2552064"/>
            <a:ext cx="3690620" cy="967105"/>
            <a:chOff x="2657475" y="2552064"/>
            <a:chExt cx="3690620" cy="967105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2713989" y="2552064"/>
              <a:ext cx="3634104" cy="920114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2657475" y="2894964"/>
              <a:ext cx="538480" cy="624204"/>
            </a:xfrm>
            <a:prstGeom prst="rect">
              <a:avLst/>
            </a:prstGeom>
          </p:spPr>
        </p:pic>
        <p:pic>
          <p:nvPicPr>
            <p:cNvPr id="5" name="object 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2727960" y="2919094"/>
              <a:ext cx="407035" cy="499110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048000" y="2742564"/>
              <a:ext cx="614679" cy="662304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3116580" y="2767329"/>
              <a:ext cx="482599" cy="539750"/>
            </a:xfrm>
            <a:prstGeom prst="rect">
              <a:avLst/>
            </a:prstGeom>
          </p:spPr>
        </p:pic>
        <p:pic>
          <p:nvPicPr>
            <p:cNvPr id="8" name="object 8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543300" y="2666364"/>
              <a:ext cx="548004" cy="624204"/>
            </a:xfrm>
            <a:prstGeom prst="rect">
              <a:avLst/>
            </a:prstGeom>
          </p:spPr>
        </p:pic>
        <p:pic>
          <p:nvPicPr>
            <p:cNvPr id="9" name="object 9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3608069" y="2689859"/>
              <a:ext cx="420370" cy="498475"/>
            </a:xfrm>
            <a:prstGeom prst="rect">
              <a:avLst/>
            </a:prstGeom>
          </p:spPr>
        </p:pic>
        <p:pic>
          <p:nvPicPr>
            <p:cNvPr id="10" name="object 10"/>
            <p:cNvPicPr/>
            <p:nvPr/>
          </p:nvPicPr>
          <p:blipFill>
            <a:blip r:embed="rId9" cstate="print"/>
            <a:stretch>
              <a:fillRect/>
            </a:stretch>
          </p:blipFill>
          <p:spPr>
            <a:xfrm>
              <a:off x="3952875" y="2590164"/>
              <a:ext cx="538479" cy="624204"/>
            </a:xfrm>
            <a:prstGeom prst="rect">
              <a:avLst/>
            </a:prstGeom>
          </p:spPr>
        </p:pic>
        <p:pic>
          <p:nvPicPr>
            <p:cNvPr id="11" name="object 11"/>
            <p:cNvPicPr/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4018280" y="2621914"/>
              <a:ext cx="412750" cy="485775"/>
            </a:xfrm>
            <a:prstGeom prst="rect">
              <a:avLst/>
            </a:prstGeom>
          </p:spPr>
        </p:pic>
        <p:pic>
          <p:nvPicPr>
            <p:cNvPr id="12" name="object 12"/>
            <p:cNvPicPr/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419600" y="2590164"/>
              <a:ext cx="481329" cy="605154"/>
            </a:xfrm>
            <a:prstGeom prst="rect">
              <a:avLst/>
            </a:prstGeom>
          </p:spPr>
        </p:pic>
        <p:pic>
          <p:nvPicPr>
            <p:cNvPr id="13" name="object 13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485004" y="2620009"/>
              <a:ext cx="351789" cy="473075"/>
            </a:xfrm>
            <a:prstGeom prst="rect">
              <a:avLst/>
            </a:prstGeom>
          </p:spPr>
        </p:pic>
        <p:pic>
          <p:nvPicPr>
            <p:cNvPr id="14" name="object 14"/>
            <p:cNvPicPr/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4962525" y="2628264"/>
              <a:ext cx="500379" cy="614679"/>
            </a:xfrm>
            <a:prstGeom prst="rect">
              <a:avLst/>
            </a:prstGeom>
          </p:spPr>
        </p:pic>
        <p:pic>
          <p:nvPicPr>
            <p:cNvPr id="15" name="object 15"/>
            <p:cNvPicPr/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5033645" y="2654299"/>
              <a:ext cx="365760" cy="487679"/>
            </a:xfrm>
            <a:prstGeom prst="rect">
              <a:avLst/>
            </a:prstGeom>
          </p:spPr>
        </p:pic>
        <p:pic>
          <p:nvPicPr>
            <p:cNvPr id="16" name="object 16"/>
            <p:cNvPicPr/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267325" y="2733039"/>
              <a:ext cx="586104" cy="605154"/>
            </a:xfrm>
            <a:prstGeom prst="rect">
              <a:avLst/>
            </a:prstGeom>
          </p:spPr>
        </p:pic>
        <p:pic>
          <p:nvPicPr>
            <p:cNvPr id="17" name="object 17"/>
            <p:cNvPicPr/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5335904" y="2759709"/>
              <a:ext cx="455929" cy="477520"/>
            </a:xfrm>
            <a:prstGeom prst="rect">
              <a:avLst/>
            </a:prstGeom>
          </p:spPr>
        </p:pic>
        <p:pic>
          <p:nvPicPr>
            <p:cNvPr id="18" name="object 18"/>
            <p:cNvPicPr/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5724525" y="2866389"/>
              <a:ext cx="614679" cy="643254"/>
            </a:xfrm>
            <a:prstGeom prst="rect">
              <a:avLst/>
            </a:prstGeom>
          </p:spPr>
        </p:pic>
        <p:pic>
          <p:nvPicPr>
            <p:cNvPr id="19" name="object 19"/>
            <p:cNvPicPr/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5789295" y="2890519"/>
              <a:ext cx="486410" cy="52133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F9C9D"/>
      </a:accent5>
      <a:accent6>
        <a:srgbClr val="9E5E9B"/>
      </a:accent6>
      <a:hlink>
        <a:srgbClr val="58C1BA"/>
      </a:hlink>
      <a:folHlink>
        <a:srgbClr val="9DD0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12</TotalTime>
  <Words>636</Words>
  <Application>Microsoft Office PowerPoint</Application>
  <PresentationFormat>On-screen Show (4:3)</PresentationFormat>
  <Paragraphs>58</Paragraphs>
  <Slides>14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9" baseType="lpstr">
      <vt:lpstr>Arial</vt:lpstr>
      <vt:lpstr>Arial MT</vt:lpstr>
      <vt:lpstr>Century Gothic</vt:lpstr>
      <vt:lpstr>Wingdings 3</vt:lpstr>
      <vt:lpstr>Ion</vt:lpstr>
      <vt:lpstr>LIVE CLASS MONITORING      SYSTEM (FACE EMOTION  RECOGNISATION)</vt:lpstr>
      <vt:lpstr>CONTENT</vt:lpstr>
      <vt:lpstr>INTRODUCTION</vt:lpstr>
      <vt:lpstr>PROBLEM  STATEMENT</vt:lpstr>
      <vt:lpstr>DATA SUMMARY</vt:lpstr>
      <vt:lpstr>Face embeddings</vt:lpstr>
      <vt:lpstr>DEPENDENCIES</vt:lpstr>
      <vt:lpstr>Model Building</vt:lpstr>
      <vt:lpstr>PowerPoint Presentation</vt:lpstr>
      <vt:lpstr>DEPLOYMENT</vt:lpstr>
      <vt:lpstr>Prediction</vt:lpstr>
      <vt:lpstr>Prediction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Capstone Project 5  LIVE CLASS MONITORING  SYSTEM (FACE EMOTION  RECOGNISATION) BY SANDEEP  KR SINGH</dc:title>
  <cp:lastModifiedBy>Soumya Ranjan Rath</cp:lastModifiedBy>
  <cp:revision>2</cp:revision>
  <dcterms:created xsi:type="dcterms:W3CDTF">2022-03-31T08:39:22Z</dcterms:created>
  <dcterms:modified xsi:type="dcterms:W3CDTF">2026-04-18T06:37:23Z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2022-03-30T00:00:00Z</vt:filetime>
  </property>
  <property fmtid="{D5CDD505-2E9C-101B-9397-08002B2CF9AE}" pid="3" name="Creator">
    <vt:lpwstr>Microsoft® Word for Microsoft 365</vt:lpwstr>
  </property>
  <property fmtid="{D5CDD505-2E9C-101B-9397-08002B2CF9AE}" pid="4" name="LastSaved">
    <vt:filetime>2022-03-31T00:00:00Z</vt:filetime>
  </property>
</Properties>
</file>